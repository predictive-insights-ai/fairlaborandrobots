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334" r:id="rId4"/>
    <p:sldId id="335" r:id="rId5"/>
    <p:sldId id="300" r:id="rId6"/>
    <p:sldId id="301" r:id="rId7"/>
    <p:sldId id="336" r:id="rId8"/>
    <p:sldId id="339" r:id="rId9"/>
    <p:sldId id="338" r:id="rId10"/>
    <p:sldId id="341" r:id="rId11"/>
    <p:sldId id="342" r:id="rId12"/>
    <p:sldId id="346" r:id="rId13"/>
    <p:sldId id="343" r:id="rId14"/>
    <p:sldId id="344" r:id="rId15"/>
    <p:sldId id="345" r:id="rId16"/>
    <p:sldId id="347" r:id="rId17"/>
    <p:sldId id="348" r:id="rId18"/>
    <p:sldId id="351" r:id="rId19"/>
    <p:sldId id="350" r:id="rId20"/>
    <p:sldId id="352" r:id="rId21"/>
    <p:sldId id="359" r:id="rId22"/>
    <p:sldId id="356" r:id="rId23"/>
    <p:sldId id="355" r:id="rId24"/>
    <p:sldId id="353" r:id="rId25"/>
    <p:sldId id="357" r:id="rId26"/>
    <p:sldId id="35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5EB39"/>
    <a:srgbClr val="1E9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97EF388-361F-445B-A4FB-1399A0C1E927}"/>
              </a:ext>
            </a:extLst>
          </p:cNvPr>
          <p:cNvSpPr/>
          <p:nvPr userDrawn="1"/>
        </p:nvSpPr>
        <p:spPr>
          <a:xfrm>
            <a:off x="0" y="4805464"/>
            <a:ext cx="12192000" cy="2066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D6AA45-D63D-45CF-94E0-1030C2EE35F4}"/>
              </a:ext>
            </a:extLst>
          </p:cNvPr>
          <p:cNvSpPr>
            <a:spLocks noGrp="1"/>
          </p:cNvSpPr>
          <p:nvPr>
            <p:ph type="ctrTitle"/>
          </p:nvPr>
        </p:nvSpPr>
        <p:spPr>
          <a:xfrm>
            <a:off x="1524000" y="1122363"/>
            <a:ext cx="9144000" cy="2387600"/>
          </a:xfrm>
        </p:spPr>
        <p:txBody>
          <a:bodyPr anchor="b"/>
          <a:lstStyle>
            <a:lvl1pPr algn="ctr">
              <a:defRPr sz="6000" b="1"/>
            </a:lvl1pPr>
          </a:lstStyle>
          <a:p>
            <a:r>
              <a:rPr lang="en-US" dirty="0"/>
              <a:t>Click to edit Master title style</a:t>
            </a:r>
          </a:p>
        </p:txBody>
      </p:sp>
      <p:sp>
        <p:nvSpPr>
          <p:cNvPr id="3" name="Subtitle 2">
            <a:extLst>
              <a:ext uri="{FF2B5EF4-FFF2-40B4-BE49-F238E27FC236}">
                <a16:creationId xmlns:a16="http://schemas.microsoft.com/office/drawing/2014/main" id="{E8F0C2D4-BE86-4300-B518-D679CE65A9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BB485BC-2376-40E2-912C-B4F67268036C}"/>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5" name="Footer Placeholder 4">
            <a:extLst>
              <a:ext uri="{FF2B5EF4-FFF2-40B4-BE49-F238E27FC236}">
                <a16:creationId xmlns:a16="http://schemas.microsoft.com/office/drawing/2014/main" id="{240958F7-A5A5-47F8-898F-922FF16724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45C7A-54A5-4A0C-A950-8E62E7B874BD}"/>
              </a:ext>
            </a:extLst>
          </p:cNvPr>
          <p:cNvSpPr>
            <a:spLocks noGrp="1"/>
          </p:cNvSpPr>
          <p:nvPr>
            <p:ph type="sldNum" sz="quarter" idx="12"/>
          </p:nvPr>
        </p:nvSpPr>
        <p:spPr/>
        <p:txBody>
          <a:bodyPr/>
          <a:lstStyle/>
          <a:p>
            <a:fld id="{D23ADFD8-66D5-4733-A2A1-093A8C9017EA}" type="slidenum">
              <a:rPr lang="en-US" smtClean="0"/>
              <a:t>‹#›</a:t>
            </a:fld>
            <a:endParaRPr lang="en-US"/>
          </a:p>
        </p:txBody>
      </p:sp>
      <p:sp>
        <p:nvSpPr>
          <p:cNvPr id="8" name="Rectangle 7">
            <a:extLst>
              <a:ext uri="{FF2B5EF4-FFF2-40B4-BE49-F238E27FC236}">
                <a16:creationId xmlns:a16="http://schemas.microsoft.com/office/drawing/2014/main" id="{8FA417D0-B62A-4907-A2EA-85AC4184327D}"/>
              </a:ext>
            </a:extLst>
          </p:cNvPr>
          <p:cNvSpPr/>
          <p:nvPr userDrawn="1"/>
        </p:nvSpPr>
        <p:spPr>
          <a:xfrm>
            <a:off x="0" y="-47423"/>
            <a:ext cx="12192000" cy="206679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201400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AA45-D63D-45CF-94E0-1030C2EE35F4}"/>
              </a:ext>
            </a:extLst>
          </p:cNvPr>
          <p:cNvSpPr>
            <a:spLocks noGrp="1"/>
          </p:cNvSpPr>
          <p:nvPr>
            <p:ph type="ctrTitle"/>
          </p:nvPr>
        </p:nvSpPr>
        <p:spPr>
          <a:xfrm>
            <a:off x="1524000" y="1122363"/>
            <a:ext cx="9144000" cy="2387600"/>
          </a:xfrm>
        </p:spPr>
        <p:txBody>
          <a:bodyPr anchor="b"/>
          <a:lstStyle>
            <a:lvl1pPr algn="ctr">
              <a:defRPr sz="6000" b="1"/>
            </a:lvl1pPr>
          </a:lstStyle>
          <a:p>
            <a:r>
              <a:rPr lang="en-US" dirty="0"/>
              <a:t>Click to edit Master title style</a:t>
            </a:r>
          </a:p>
        </p:txBody>
      </p:sp>
      <p:sp>
        <p:nvSpPr>
          <p:cNvPr id="3" name="Subtitle 2">
            <a:extLst>
              <a:ext uri="{FF2B5EF4-FFF2-40B4-BE49-F238E27FC236}">
                <a16:creationId xmlns:a16="http://schemas.microsoft.com/office/drawing/2014/main" id="{E8F0C2D4-BE86-4300-B518-D679CE65A9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DBB485BC-2376-40E2-912C-B4F67268036C}"/>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5" name="Footer Placeholder 4">
            <a:extLst>
              <a:ext uri="{FF2B5EF4-FFF2-40B4-BE49-F238E27FC236}">
                <a16:creationId xmlns:a16="http://schemas.microsoft.com/office/drawing/2014/main" id="{240958F7-A5A5-47F8-898F-922FF16724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45C7A-54A5-4A0C-A950-8E62E7B874BD}"/>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38431931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226BE-2AB0-47BF-A8D8-54AC0342ED42}"/>
              </a:ext>
            </a:extLst>
          </p:cNvPr>
          <p:cNvSpPr>
            <a:spLocks noGrp="1"/>
          </p:cNvSpPr>
          <p:nvPr>
            <p:ph type="title"/>
          </p:nvPr>
        </p:nvSpPr>
        <p:spPr>
          <a:xfrm>
            <a:off x="838200" y="365126"/>
            <a:ext cx="10515600" cy="718934"/>
          </a:xfrm>
        </p:spPr>
        <p:txBody>
          <a:bodyPr/>
          <a:lstStyle>
            <a:lvl1pPr>
              <a:defRPr b="1">
                <a:solidFill>
                  <a:schemeClr val="tx1">
                    <a:lumMod val="65000"/>
                    <a:lumOff val="3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63E1DAAC-8CC0-45B6-9A08-A927D585F7ED}"/>
              </a:ext>
            </a:extLst>
          </p:cNvPr>
          <p:cNvSpPr>
            <a:spLocks noGrp="1"/>
          </p:cNvSpPr>
          <p:nvPr>
            <p:ph idx="1" hasCustomPrompt="1"/>
          </p:nvPr>
        </p:nvSpPr>
        <p:spPr/>
        <p:txBody>
          <a:bodyPr/>
          <a:lstStyle>
            <a:lvl1pPr marL="228600" indent="-228600">
              <a:buFont typeface="Wingdings" panose="05000000000000000000" pitchFamily="2" charset="2"/>
              <a:buChar char="§"/>
              <a:defRPr/>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Modeling Objective</a:t>
            </a:r>
          </a:p>
          <a:p>
            <a:pPr lvl="0"/>
            <a:r>
              <a:rPr lang="en-US" dirty="0"/>
              <a:t>Exploratory Analysis</a:t>
            </a:r>
          </a:p>
          <a:p>
            <a:pPr lvl="0"/>
            <a:r>
              <a:rPr lang="en-US" dirty="0"/>
              <a:t>Setting up a data pipeline</a:t>
            </a:r>
          </a:p>
          <a:p>
            <a:pPr lvl="0"/>
            <a:r>
              <a:rPr lang="en-US" dirty="0"/>
              <a:t>Baseline model</a:t>
            </a:r>
          </a:p>
          <a:p>
            <a:pPr lvl="0"/>
            <a:r>
              <a:rPr lang="en-US" dirty="0"/>
              <a:t>GLM and GLM extensions</a:t>
            </a:r>
          </a:p>
          <a:p>
            <a:pPr lvl="0"/>
            <a:r>
              <a:rPr lang="en-US" dirty="0"/>
              <a:t>Gradient Boosting</a:t>
            </a:r>
          </a:p>
          <a:p>
            <a:pPr lvl="0"/>
            <a:r>
              <a:rPr lang="en-US" dirty="0"/>
              <a:t>Stacking</a:t>
            </a:r>
          </a:p>
          <a:p>
            <a:pPr lvl="0"/>
            <a:r>
              <a:rPr lang="en-US" dirty="0"/>
              <a:t>Final predictions</a:t>
            </a:r>
          </a:p>
          <a:p>
            <a:pPr lvl="0"/>
            <a:endParaRPr lang="en-US" dirty="0"/>
          </a:p>
        </p:txBody>
      </p:sp>
      <p:sp>
        <p:nvSpPr>
          <p:cNvPr id="4" name="Date Placeholder 3">
            <a:extLst>
              <a:ext uri="{FF2B5EF4-FFF2-40B4-BE49-F238E27FC236}">
                <a16:creationId xmlns:a16="http://schemas.microsoft.com/office/drawing/2014/main" id="{6016585B-AC91-474B-A107-16EF25AE8467}"/>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5" name="Footer Placeholder 4">
            <a:extLst>
              <a:ext uri="{FF2B5EF4-FFF2-40B4-BE49-F238E27FC236}">
                <a16:creationId xmlns:a16="http://schemas.microsoft.com/office/drawing/2014/main" id="{2F373447-3BB7-478E-820E-E7DA412EB086}"/>
              </a:ext>
            </a:extLst>
          </p:cNvPr>
          <p:cNvSpPr>
            <a:spLocks noGrp="1"/>
          </p:cNvSpPr>
          <p:nvPr>
            <p:ph type="ftr" sz="quarter" idx="11"/>
          </p:nvPr>
        </p:nvSpPr>
        <p:spPr/>
        <p:txBody>
          <a:bodyPr/>
          <a:lstStyle/>
          <a:p>
            <a:r>
              <a:rPr lang="en-US" dirty="0"/>
              <a:t>Milliman Modeling Project</a:t>
            </a:r>
          </a:p>
        </p:txBody>
      </p:sp>
      <p:sp>
        <p:nvSpPr>
          <p:cNvPr id="6" name="Slide Number Placeholder 5">
            <a:extLst>
              <a:ext uri="{FF2B5EF4-FFF2-40B4-BE49-F238E27FC236}">
                <a16:creationId xmlns:a16="http://schemas.microsoft.com/office/drawing/2014/main" id="{58F82D6C-0613-46E8-8641-3D421261F9C3}"/>
              </a:ext>
            </a:extLst>
          </p:cNvPr>
          <p:cNvSpPr>
            <a:spLocks noGrp="1"/>
          </p:cNvSpPr>
          <p:nvPr>
            <p:ph type="sldNum" sz="quarter" idx="12"/>
          </p:nvPr>
        </p:nvSpPr>
        <p:spPr/>
        <p:txBody>
          <a:bodyPr/>
          <a:lstStyle/>
          <a:p>
            <a:fld id="{D23ADFD8-66D5-4733-A2A1-093A8C9017EA}" type="slidenum">
              <a:rPr lang="en-US" smtClean="0"/>
              <a:t>‹#›</a:t>
            </a:fld>
            <a:endParaRPr lang="en-US"/>
          </a:p>
        </p:txBody>
      </p:sp>
      <p:cxnSp>
        <p:nvCxnSpPr>
          <p:cNvPr id="8" name="Straight Connector 7">
            <a:extLst>
              <a:ext uri="{FF2B5EF4-FFF2-40B4-BE49-F238E27FC236}">
                <a16:creationId xmlns:a16="http://schemas.microsoft.com/office/drawing/2014/main" id="{28833663-8547-437B-918C-F2BC5634D63B}"/>
              </a:ext>
            </a:extLst>
          </p:cNvPr>
          <p:cNvCxnSpPr>
            <a:cxnSpLocks/>
          </p:cNvCxnSpPr>
          <p:nvPr userDrawn="1"/>
        </p:nvCxnSpPr>
        <p:spPr>
          <a:xfrm>
            <a:off x="838200" y="6176963"/>
            <a:ext cx="105156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F755CB8-54C9-40CA-960A-00BC2C845F41}"/>
              </a:ext>
            </a:extLst>
          </p:cNvPr>
          <p:cNvSpPr/>
          <p:nvPr userDrawn="1"/>
        </p:nvSpPr>
        <p:spPr>
          <a:xfrm>
            <a:off x="8951068" y="365124"/>
            <a:ext cx="2402732" cy="718933"/>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737246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6B7C3-B3DB-4861-B4F0-862999419FE3}"/>
              </a:ext>
            </a:extLst>
          </p:cNvPr>
          <p:cNvSpPr>
            <a:spLocks noGrp="1"/>
          </p:cNvSpPr>
          <p:nvPr>
            <p:ph type="title" hasCustomPrompt="1"/>
          </p:nvPr>
        </p:nvSpPr>
        <p:spPr/>
        <p:txBody>
          <a:bodyPr/>
          <a:lstStyle>
            <a:lvl1pPr>
              <a:defRPr b="1">
                <a:solidFill>
                  <a:schemeClr val="tx1">
                    <a:lumMod val="65000"/>
                    <a:lumOff val="35000"/>
                  </a:schemeClr>
                </a:solidFill>
              </a:defRPr>
            </a:lvl1pPr>
          </a:lstStyle>
          <a:p>
            <a:r>
              <a:rPr lang="en-US" dirty="0"/>
              <a:t>Basic Graph</a:t>
            </a:r>
          </a:p>
        </p:txBody>
      </p:sp>
      <p:sp>
        <p:nvSpPr>
          <p:cNvPr id="3" name="Content Placeholder 2">
            <a:extLst>
              <a:ext uri="{FF2B5EF4-FFF2-40B4-BE49-F238E27FC236}">
                <a16:creationId xmlns:a16="http://schemas.microsoft.com/office/drawing/2014/main" id="{75AECBC0-5D46-482C-8DCF-D56F8FDEE685}"/>
              </a:ext>
            </a:extLst>
          </p:cNvPr>
          <p:cNvSpPr>
            <a:spLocks noGrp="1"/>
          </p:cNvSpPr>
          <p:nvPr>
            <p:ph sz="half" idx="1"/>
          </p:nvPr>
        </p:nvSpPr>
        <p:spPr>
          <a:xfrm>
            <a:off x="838200" y="4257963"/>
            <a:ext cx="10515600" cy="166961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EA6AF1E8-59B5-4B8D-A60D-92BC8A8DC0DB}"/>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6" name="Footer Placeholder 5">
            <a:extLst>
              <a:ext uri="{FF2B5EF4-FFF2-40B4-BE49-F238E27FC236}">
                <a16:creationId xmlns:a16="http://schemas.microsoft.com/office/drawing/2014/main" id="{5EF7F53A-E804-4839-868D-0677B9751A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904C6D-2BB9-4043-B39C-20E133B1CECD}"/>
              </a:ext>
            </a:extLst>
          </p:cNvPr>
          <p:cNvSpPr>
            <a:spLocks noGrp="1"/>
          </p:cNvSpPr>
          <p:nvPr>
            <p:ph type="sldNum" sz="quarter" idx="12"/>
          </p:nvPr>
        </p:nvSpPr>
        <p:spPr/>
        <p:txBody>
          <a:bodyPr/>
          <a:lstStyle/>
          <a:p>
            <a:fld id="{D23ADFD8-66D5-4733-A2A1-093A8C9017EA}" type="slidenum">
              <a:rPr lang="en-US" smtClean="0"/>
              <a:t>‹#›</a:t>
            </a:fld>
            <a:endParaRPr lang="en-US"/>
          </a:p>
        </p:txBody>
      </p:sp>
      <p:cxnSp>
        <p:nvCxnSpPr>
          <p:cNvPr id="8" name="Straight Connector 7">
            <a:extLst>
              <a:ext uri="{FF2B5EF4-FFF2-40B4-BE49-F238E27FC236}">
                <a16:creationId xmlns:a16="http://schemas.microsoft.com/office/drawing/2014/main" id="{637F156B-96D0-4A8F-9F23-27982CCD5A5E}"/>
              </a:ext>
            </a:extLst>
          </p:cNvPr>
          <p:cNvCxnSpPr>
            <a:cxnSpLocks/>
          </p:cNvCxnSpPr>
          <p:nvPr userDrawn="1"/>
        </p:nvCxnSpPr>
        <p:spPr>
          <a:xfrm>
            <a:off x="838200" y="6176963"/>
            <a:ext cx="10515600" cy="0"/>
          </a:xfrm>
          <a:prstGeom prst="line">
            <a:avLst/>
          </a:prstGeom>
          <a:ln w="381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883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47976-64E8-4FAF-B45E-4D88C2F40DD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A81A6EE-3EC6-45AB-A5C5-DABBB8E883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CD7D68F-0F9D-4AEF-99D9-DF3FDE30A79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9327464-FE0D-46E1-8BE0-481FCB675F0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60D6C06-5257-432A-ADF7-3620EEDA7E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FEC260C-8FBE-438A-860C-09147403FFE3}"/>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8" name="Footer Placeholder 7">
            <a:extLst>
              <a:ext uri="{FF2B5EF4-FFF2-40B4-BE49-F238E27FC236}">
                <a16:creationId xmlns:a16="http://schemas.microsoft.com/office/drawing/2014/main" id="{0461984A-0D81-4467-B8DC-FEB5E09E575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E8F861-3271-4ECB-8D04-01F8B8E5F492}"/>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9393264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D3AEF-95D5-4965-8616-72B8E811794F}"/>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9F786CE4-C347-43D3-85FC-B7AF0B6CBFAE}"/>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4" name="Footer Placeholder 3">
            <a:extLst>
              <a:ext uri="{FF2B5EF4-FFF2-40B4-BE49-F238E27FC236}">
                <a16:creationId xmlns:a16="http://schemas.microsoft.com/office/drawing/2014/main" id="{E3DEC444-3422-4740-9771-240BBBF0FF7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11D144D-F4A1-4057-A781-C0B34588EED3}"/>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11035573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2DB5EA-D50B-45C7-9B1F-D130982A261F}"/>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3" name="Footer Placeholder 2">
            <a:extLst>
              <a:ext uri="{FF2B5EF4-FFF2-40B4-BE49-F238E27FC236}">
                <a16:creationId xmlns:a16="http://schemas.microsoft.com/office/drawing/2014/main" id="{CB271DCA-C743-41CF-887C-0F1DF1196AC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8C5E66-E6E6-42A3-A2B1-E7C71D4E7D62}"/>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30821541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1321A-3F82-4058-ACC5-542CF845E9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B052512-DDCF-432C-8E91-D2014116F51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FD0AF99-56C8-4C3C-9808-FB5BA23278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237EDC6-26ED-4300-B6F3-D36DA0E01F37}"/>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6" name="Footer Placeholder 5">
            <a:extLst>
              <a:ext uri="{FF2B5EF4-FFF2-40B4-BE49-F238E27FC236}">
                <a16:creationId xmlns:a16="http://schemas.microsoft.com/office/drawing/2014/main" id="{07B5DF43-60A1-4F91-9EBF-5550107EC9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82ED2C-9907-4675-B034-2E1DA461F4B9}"/>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1455614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19DF9-845C-454D-8A42-2126885005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804C9AB-F396-47B1-A50F-D510BFD690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BB92A2-4012-48EB-AA59-6B073FE231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BC31BBD-09E3-4E5D-AA98-9E2A222C2706}"/>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6" name="Footer Placeholder 5">
            <a:extLst>
              <a:ext uri="{FF2B5EF4-FFF2-40B4-BE49-F238E27FC236}">
                <a16:creationId xmlns:a16="http://schemas.microsoft.com/office/drawing/2014/main" id="{15A0CAE2-1B1F-4D4C-A31F-35A5BCB1583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D93EEA-92C4-4991-A8D8-9B1F98A9A374}"/>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37421657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AA2F9-5A8F-47C6-8942-8867D603B50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CAF1EFB-B310-41BD-8C21-A3FFE1C45DD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00F7EE-AC35-49DF-82E8-43618BC85337}"/>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5" name="Footer Placeholder 4">
            <a:extLst>
              <a:ext uri="{FF2B5EF4-FFF2-40B4-BE49-F238E27FC236}">
                <a16:creationId xmlns:a16="http://schemas.microsoft.com/office/drawing/2014/main" id="{A603762D-86A1-4C14-936A-FCFD6BF559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78B011-58CF-481B-A473-EF55A6327C6B}"/>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20803295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63BEC7-1A11-490B-929E-1629BC15483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98662E8-60A0-46D9-A814-FCF02407C427}"/>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EF7090-4159-4DB2-A20F-0B431330BC1D}"/>
              </a:ext>
            </a:extLst>
          </p:cNvPr>
          <p:cNvSpPr>
            <a:spLocks noGrp="1"/>
          </p:cNvSpPr>
          <p:nvPr>
            <p:ph type="dt" sz="half" idx="10"/>
          </p:nvPr>
        </p:nvSpPr>
        <p:spPr/>
        <p:txBody>
          <a:bodyPr/>
          <a:lstStyle/>
          <a:p>
            <a:fld id="{67875B50-52F5-4819-9632-7AF27EBFFAF4}" type="datetimeFigureOut">
              <a:rPr lang="en-US" smtClean="0"/>
              <a:t>12/9/2018</a:t>
            </a:fld>
            <a:endParaRPr lang="en-US"/>
          </a:p>
        </p:txBody>
      </p:sp>
      <p:sp>
        <p:nvSpPr>
          <p:cNvPr id="5" name="Footer Placeholder 4">
            <a:extLst>
              <a:ext uri="{FF2B5EF4-FFF2-40B4-BE49-F238E27FC236}">
                <a16:creationId xmlns:a16="http://schemas.microsoft.com/office/drawing/2014/main" id="{8E922D6D-6ADB-47B2-BB0B-732D85FEC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18B110-8B29-4F44-AC50-4FBFD92585A8}"/>
              </a:ext>
            </a:extLst>
          </p:cNvPr>
          <p:cNvSpPr>
            <a:spLocks noGrp="1"/>
          </p:cNvSpPr>
          <p:nvPr>
            <p:ph type="sldNum" sz="quarter" idx="12"/>
          </p:nvPr>
        </p:nvSpPr>
        <p:spPr/>
        <p:txBody>
          <a:bodyPr/>
          <a:lstStyle/>
          <a:p>
            <a:fld id="{D23ADFD8-66D5-4733-A2A1-093A8C9017EA}" type="slidenum">
              <a:rPr lang="en-US" smtClean="0"/>
              <a:t>‹#›</a:t>
            </a:fld>
            <a:endParaRPr lang="en-US"/>
          </a:p>
        </p:txBody>
      </p:sp>
    </p:spTree>
    <p:extLst>
      <p:ext uri="{BB962C8B-B14F-4D97-AF65-F5344CB8AC3E}">
        <p14:creationId xmlns:p14="http://schemas.microsoft.com/office/powerpoint/2010/main" val="38798095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6931F1-5346-4F18-B464-B19464D344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626912CD-6891-485A-86AF-EFDF8C04F0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122901F-724F-403E-BC30-9A62FA2EE4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875B50-52F5-4819-9632-7AF27EBFFAF4}" type="datetimeFigureOut">
              <a:rPr lang="en-US" smtClean="0"/>
              <a:t>12/9/2018</a:t>
            </a:fld>
            <a:endParaRPr lang="en-US"/>
          </a:p>
        </p:txBody>
      </p:sp>
      <p:sp>
        <p:nvSpPr>
          <p:cNvPr id="5" name="Footer Placeholder 4">
            <a:extLst>
              <a:ext uri="{FF2B5EF4-FFF2-40B4-BE49-F238E27FC236}">
                <a16:creationId xmlns:a16="http://schemas.microsoft.com/office/drawing/2014/main" id="{0A6F6619-D106-4E16-87AE-1D88563309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D970B9-F0EF-4641-84DB-B66A957AD9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3ADFD8-66D5-4733-A2A1-093A8C9017EA}" type="slidenum">
              <a:rPr lang="en-US" smtClean="0"/>
              <a:t>‹#›</a:t>
            </a:fld>
            <a:endParaRPr lang="en-US"/>
          </a:p>
        </p:txBody>
      </p:sp>
    </p:spTree>
    <p:extLst>
      <p:ext uri="{BB962C8B-B14F-4D97-AF65-F5344CB8AC3E}">
        <p14:creationId xmlns:p14="http://schemas.microsoft.com/office/powerpoint/2010/main" val="295509939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lumMod val="75000"/>
          </a:schemeClr>
        </a:buClr>
        <a:buFont typeface="Wingdings" panose="05000000000000000000" pitchFamily="2"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bg2">
            <a:lumMod val="50000"/>
          </a:schemeClr>
        </a:buClr>
        <a:buFont typeface="Wingdings" panose="05000000000000000000" pitchFamily="2" charset="2"/>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6DBDD4-E8CA-4109-8322-D645CD1406C1}"/>
              </a:ext>
            </a:extLst>
          </p:cNvPr>
          <p:cNvSpPr>
            <a:spLocks noGrp="1"/>
          </p:cNvSpPr>
          <p:nvPr>
            <p:ph type="ctrTitle"/>
          </p:nvPr>
        </p:nvSpPr>
        <p:spPr/>
        <p:txBody>
          <a:bodyPr>
            <a:normAutofit/>
          </a:bodyPr>
          <a:lstStyle/>
          <a:p>
            <a:r>
              <a:rPr lang="en-US" sz="5400" dirty="0">
                <a:latin typeface="+mn-lt"/>
              </a:rPr>
              <a:t>Press Ganey </a:t>
            </a:r>
            <a:r>
              <a:rPr lang="en-US" sz="5400" b="0" dirty="0">
                <a:latin typeface="+mn-lt"/>
              </a:rPr>
              <a:t>Analytics Exercise</a:t>
            </a:r>
            <a:endParaRPr lang="en-US" sz="5400" b="0" dirty="0"/>
          </a:p>
        </p:txBody>
      </p:sp>
      <p:sp>
        <p:nvSpPr>
          <p:cNvPr id="3" name="Subtitle 2">
            <a:extLst>
              <a:ext uri="{FF2B5EF4-FFF2-40B4-BE49-F238E27FC236}">
                <a16:creationId xmlns:a16="http://schemas.microsoft.com/office/drawing/2014/main" id="{E3CB2C4F-8F14-4F2E-8884-D366837F91F8}"/>
              </a:ext>
            </a:extLst>
          </p:cNvPr>
          <p:cNvSpPr>
            <a:spLocks noGrp="1"/>
          </p:cNvSpPr>
          <p:nvPr>
            <p:ph type="subTitle" idx="1"/>
          </p:nvPr>
        </p:nvSpPr>
        <p:spPr>
          <a:xfrm>
            <a:off x="7600335" y="5202238"/>
            <a:ext cx="3067665" cy="1655762"/>
          </a:xfrm>
        </p:spPr>
        <p:txBody>
          <a:bodyPr/>
          <a:lstStyle/>
          <a:p>
            <a:pPr algn="r"/>
            <a:r>
              <a:rPr lang="en-US" dirty="0"/>
              <a:t>December 9, 2018</a:t>
            </a:r>
          </a:p>
          <a:p>
            <a:pPr algn="r"/>
            <a:r>
              <a:rPr lang="en-US" dirty="0"/>
              <a:t>Sam Castillo</a:t>
            </a:r>
          </a:p>
        </p:txBody>
      </p:sp>
    </p:spTree>
    <p:extLst>
      <p:ext uri="{BB962C8B-B14F-4D97-AF65-F5344CB8AC3E}">
        <p14:creationId xmlns:p14="http://schemas.microsoft.com/office/powerpoint/2010/main" val="7574198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r>
              <a:rPr lang="en-US" sz="3400" dirty="0"/>
              <a:t>Overview</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393006"/>
            <a:ext cx="10515600" cy="4351338"/>
          </a:xfrm>
        </p:spPr>
        <p:txBody>
          <a:bodyPr>
            <a:normAutofit/>
          </a:bodyPr>
          <a:lstStyle/>
          <a:p>
            <a:r>
              <a:rPr lang="en-US" sz="1600" dirty="0"/>
              <a:t>Description of tables</a:t>
            </a:r>
          </a:p>
          <a:p>
            <a:r>
              <a:rPr lang="en-US" sz="1600" dirty="0"/>
              <a:t>Data Merging</a:t>
            </a:r>
          </a:p>
          <a:p>
            <a:pPr lvl="1"/>
            <a:r>
              <a:rPr lang="en-US" sz="1600" dirty="0"/>
              <a:t>Overview of tables</a:t>
            </a:r>
          </a:p>
          <a:p>
            <a:pPr lvl="1"/>
            <a:r>
              <a:rPr lang="en-US" sz="1600" dirty="0"/>
              <a:t>Merged tables</a:t>
            </a:r>
          </a:p>
          <a:p>
            <a:r>
              <a:rPr lang="en-US" sz="1600" dirty="0"/>
              <a:t>Survey Results Summary</a:t>
            </a:r>
          </a:p>
          <a:p>
            <a:pPr lvl="1"/>
            <a:r>
              <a:rPr lang="en-US" sz="1600" dirty="0"/>
              <a:t>Survey results by age and patient sex</a:t>
            </a:r>
          </a:p>
          <a:p>
            <a:pPr lvl="1"/>
            <a:r>
              <a:rPr lang="en-US" sz="1600" dirty="0"/>
              <a:t>Survey results by mode of delivery</a:t>
            </a:r>
          </a:p>
          <a:p>
            <a:pPr lvl="1"/>
            <a:r>
              <a:rPr lang="en-US" sz="1600" dirty="0"/>
              <a:t>Quality of care measures</a:t>
            </a:r>
          </a:p>
          <a:p>
            <a:pPr lvl="1"/>
            <a:r>
              <a:rPr lang="en-US" sz="1600" dirty="0"/>
              <a:t>Performance benchmarking</a:t>
            </a:r>
          </a:p>
          <a:p>
            <a:r>
              <a:rPr lang="en-US" sz="1600" dirty="0"/>
              <a:t>Measuring Quality of Care</a:t>
            </a:r>
          </a:p>
          <a:p>
            <a:pPr lvl="1"/>
            <a:r>
              <a:rPr lang="en-US" sz="1200" dirty="0"/>
              <a:t>How can Quality of Care be measured?</a:t>
            </a:r>
          </a:p>
          <a:p>
            <a:pPr lvl="1"/>
            <a:r>
              <a:rPr lang="en-US" sz="1200" dirty="0"/>
              <a:t>What are the drivers of Quality of Care?</a:t>
            </a:r>
          </a:p>
          <a:p>
            <a:r>
              <a:rPr lang="en-US" sz="1600" dirty="0"/>
              <a:t>Application Example: Benchmarking</a:t>
            </a:r>
          </a:p>
          <a:p>
            <a:r>
              <a:rPr lang="en-US" sz="1600" dirty="0"/>
              <a:t>Future Considerations</a:t>
            </a:r>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Intro</a:t>
            </a:r>
          </a:p>
        </p:txBody>
      </p:sp>
    </p:spTree>
    <p:extLst>
      <p:ext uri="{BB962C8B-B14F-4D97-AF65-F5344CB8AC3E}">
        <p14:creationId xmlns:p14="http://schemas.microsoft.com/office/powerpoint/2010/main" val="1144023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5DA8-B7A7-452C-9369-4E03877D855D}"/>
              </a:ext>
            </a:extLst>
          </p:cNvPr>
          <p:cNvSpPr>
            <a:spLocks noGrp="1"/>
          </p:cNvSpPr>
          <p:nvPr>
            <p:ph type="ctrTitle"/>
          </p:nvPr>
        </p:nvSpPr>
        <p:spPr/>
        <p:txBody>
          <a:bodyPr/>
          <a:lstStyle/>
          <a:p>
            <a:r>
              <a:rPr lang="en-US" dirty="0"/>
              <a:t>Data Merging</a:t>
            </a:r>
          </a:p>
        </p:txBody>
      </p:sp>
      <p:sp>
        <p:nvSpPr>
          <p:cNvPr id="3" name="Subtitle 2">
            <a:extLst>
              <a:ext uri="{FF2B5EF4-FFF2-40B4-BE49-F238E27FC236}">
                <a16:creationId xmlns:a16="http://schemas.microsoft.com/office/drawing/2014/main" id="{E16C1304-AFF5-4D8D-8485-40D43BFB23AD}"/>
              </a:ext>
            </a:extLst>
          </p:cNvPr>
          <p:cNvSpPr>
            <a:spLocks noGrp="1"/>
          </p:cNvSpPr>
          <p:nvPr>
            <p:ph type="subTitle" idx="1"/>
          </p:nvPr>
        </p:nvSpPr>
        <p:spPr/>
        <p:txBody>
          <a:bodyPr/>
          <a:lstStyle/>
          <a:p>
            <a:r>
              <a:rPr lang="en-US" dirty="0"/>
              <a:t>Combining Data Sources</a:t>
            </a:r>
          </a:p>
        </p:txBody>
      </p:sp>
    </p:spTree>
    <p:extLst>
      <p:ext uri="{BB962C8B-B14F-4D97-AF65-F5344CB8AC3E}">
        <p14:creationId xmlns:p14="http://schemas.microsoft.com/office/powerpoint/2010/main" val="7168632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Description of tables</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169138"/>
            <a:ext cx="10515600" cy="5007825"/>
          </a:xfrm>
        </p:spPr>
        <p:txBody>
          <a:bodyPr>
            <a:normAutofit/>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Data Merging</a:t>
            </a:r>
          </a:p>
        </p:txBody>
      </p:sp>
      <p:sp>
        <p:nvSpPr>
          <p:cNvPr id="5" name="Rectangle 4">
            <a:extLst>
              <a:ext uri="{FF2B5EF4-FFF2-40B4-BE49-F238E27FC236}">
                <a16:creationId xmlns:a16="http://schemas.microsoft.com/office/drawing/2014/main" id="{1CE5CF00-2AF0-41FF-A876-FCD8C127FCE3}"/>
              </a:ext>
            </a:extLst>
          </p:cNvPr>
          <p:cNvSpPr/>
          <p:nvPr/>
        </p:nvSpPr>
        <p:spPr>
          <a:xfrm>
            <a:off x="838199" y="1157590"/>
            <a:ext cx="9171039" cy="4121641"/>
          </a:xfrm>
          <a:prstGeom prst="rect">
            <a:avLst/>
          </a:prstGeom>
        </p:spPr>
        <p:txBody>
          <a:bodyPr wrap="square">
            <a:spAutoFit/>
          </a:bodyPr>
          <a:lstStyle/>
          <a:p>
            <a:pPr marL="228600" indent="-228600">
              <a:lnSpc>
                <a:spcPct val="90000"/>
              </a:lnSpc>
              <a:spcBef>
                <a:spcPts val="1000"/>
              </a:spcBef>
              <a:buClr>
                <a:schemeClr val="accent2">
                  <a:lumMod val="75000"/>
                </a:schemeClr>
              </a:buClr>
              <a:buFont typeface="Wingdings" panose="05000000000000000000" pitchFamily="2" charset="2"/>
              <a:buChar char="§"/>
            </a:pPr>
            <a:r>
              <a:rPr lang="en-US" sz="1600" b="1" dirty="0"/>
              <a:t>Survey</a:t>
            </a:r>
            <a:r>
              <a:rPr lang="en-US" sz="1600" dirty="0"/>
              <a:t>: Table that identifies, for each completed survey (identified by </a:t>
            </a:r>
            <a:r>
              <a:rPr lang="en-US" sz="1600" dirty="0" err="1">
                <a:latin typeface="Courier" pitchFamily="49" charset="0"/>
              </a:rPr>
              <a:t>SurveyKey</a:t>
            </a:r>
            <a:r>
              <a:rPr lang="en-US" sz="1600" dirty="0"/>
              <a:t> – one for each survey returned), the </a:t>
            </a:r>
            <a:r>
              <a:rPr lang="en-US" sz="1600" dirty="0">
                <a:latin typeface="Courier" pitchFamily="49" charset="0"/>
              </a:rPr>
              <a:t>Mode</a:t>
            </a:r>
            <a:r>
              <a:rPr lang="en-US" sz="1600" dirty="0"/>
              <a:t> the survey was conducted in.</a:t>
            </a:r>
          </a:p>
          <a:p>
            <a:pPr marL="228600" indent="-228600">
              <a:lnSpc>
                <a:spcPct val="90000"/>
              </a:lnSpc>
              <a:spcBef>
                <a:spcPts val="1000"/>
              </a:spcBef>
              <a:buClr>
                <a:schemeClr val="accent2">
                  <a:lumMod val="75000"/>
                </a:schemeClr>
              </a:buClr>
              <a:buFont typeface="Wingdings" panose="05000000000000000000" pitchFamily="2" charset="2"/>
              <a:buChar char="§"/>
            </a:pPr>
            <a:r>
              <a:rPr lang="en-US" sz="1600" b="1" dirty="0" err="1"/>
              <a:t>SurveyItem</a:t>
            </a:r>
            <a:r>
              <a:rPr lang="en-US" sz="1600" dirty="0"/>
              <a:t>: Table with fields relevant to content of survey:</a:t>
            </a:r>
          </a:p>
          <a:p>
            <a:pPr marL="685800" lvl="1" indent="-228600">
              <a:lnSpc>
                <a:spcPct val="90000"/>
              </a:lnSpc>
              <a:spcBef>
                <a:spcPts val="500"/>
              </a:spcBef>
              <a:buClr>
                <a:schemeClr val="bg2">
                  <a:lumMod val="50000"/>
                </a:schemeClr>
              </a:buClr>
              <a:buFont typeface="Wingdings" panose="05000000000000000000" pitchFamily="2" charset="2"/>
              <a:buChar char="§"/>
            </a:pPr>
            <a:r>
              <a:rPr lang="en-US" sz="1600" dirty="0" err="1">
                <a:latin typeface="Courier" pitchFamily="49" charset="0"/>
              </a:rPr>
              <a:t>SurveyItemVariable</a:t>
            </a:r>
            <a:r>
              <a:rPr lang="en-US" sz="1600" dirty="0"/>
              <a:t>: Question/rating that respondent is answering</a:t>
            </a:r>
          </a:p>
          <a:p>
            <a:pPr marL="685800" lvl="1" indent="-228600">
              <a:lnSpc>
                <a:spcPct val="90000"/>
              </a:lnSpc>
              <a:spcBef>
                <a:spcPts val="500"/>
              </a:spcBef>
              <a:buClr>
                <a:schemeClr val="bg2">
                  <a:lumMod val="50000"/>
                </a:schemeClr>
              </a:buClr>
              <a:buFont typeface="Wingdings" panose="05000000000000000000" pitchFamily="2" charset="2"/>
              <a:buChar char="§"/>
            </a:pPr>
            <a:r>
              <a:rPr lang="en-US" sz="1600" dirty="0">
                <a:latin typeface="Courier" pitchFamily="49" charset="0"/>
              </a:rPr>
              <a:t>Survey</a:t>
            </a:r>
          </a:p>
          <a:p>
            <a:pPr marL="685800" lvl="1" indent="-228600">
              <a:lnSpc>
                <a:spcPct val="90000"/>
              </a:lnSpc>
              <a:spcBef>
                <a:spcPts val="500"/>
              </a:spcBef>
              <a:buClr>
                <a:schemeClr val="bg2">
                  <a:lumMod val="50000"/>
                </a:schemeClr>
              </a:buClr>
              <a:buFont typeface="Wingdings" panose="05000000000000000000" pitchFamily="2" charset="2"/>
              <a:buChar char="§"/>
            </a:pPr>
            <a:r>
              <a:rPr lang="en-US" sz="1600" dirty="0" err="1">
                <a:latin typeface="Courier" pitchFamily="49" charset="0"/>
              </a:rPr>
              <a:t>ResponseCode</a:t>
            </a:r>
            <a:r>
              <a:rPr lang="en-US" sz="1600" dirty="0"/>
              <a:t>: Rating scale of item. Many of our survey items ask ordinal response questions (e.g. on a scale to 1 to 5: completely disagree to completely agree), with a higher value being better.</a:t>
            </a:r>
          </a:p>
          <a:p>
            <a:pPr marL="685800" lvl="1" indent="-228600">
              <a:lnSpc>
                <a:spcPct val="90000"/>
              </a:lnSpc>
              <a:spcBef>
                <a:spcPts val="500"/>
              </a:spcBef>
              <a:buClr>
                <a:schemeClr val="bg2">
                  <a:lumMod val="50000"/>
                </a:schemeClr>
              </a:buClr>
              <a:buFont typeface="Wingdings" panose="05000000000000000000" pitchFamily="2" charset="2"/>
              <a:buChar char="§"/>
            </a:pPr>
            <a:r>
              <a:rPr lang="en-US" sz="1600" dirty="0" err="1">
                <a:latin typeface="Courier" pitchFamily="49" charset="0"/>
              </a:rPr>
              <a:t>TopBoxCode</a:t>
            </a:r>
            <a:r>
              <a:rPr lang="en-US" sz="1600" dirty="0"/>
              <a:t>: This is the value for the </a:t>
            </a:r>
            <a:r>
              <a:rPr lang="en-US" sz="1600" dirty="0" err="1">
                <a:latin typeface="Courier" pitchFamily="49" charset="0"/>
              </a:rPr>
              <a:t>ResponseCode</a:t>
            </a:r>
            <a:r>
              <a:rPr lang="en-US" sz="1600" dirty="0"/>
              <a:t> that we consider “</a:t>
            </a:r>
            <a:r>
              <a:rPr lang="en-US" sz="1600" dirty="0" err="1"/>
              <a:t>TopBox</a:t>
            </a:r>
            <a:r>
              <a:rPr lang="en-US" sz="1600" dirty="0"/>
              <a:t>” – the highest rating.</a:t>
            </a:r>
          </a:p>
          <a:p>
            <a:pPr marL="685800" lvl="1" indent="-228600">
              <a:lnSpc>
                <a:spcPct val="90000"/>
              </a:lnSpc>
              <a:spcBef>
                <a:spcPts val="500"/>
              </a:spcBef>
              <a:buClr>
                <a:schemeClr val="bg2">
                  <a:lumMod val="50000"/>
                </a:schemeClr>
              </a:buClr>
              <a:buFont typeface="Wingdings" panose="05000000000000000000" pitchFamily="2" charset="2"/>
              <a:buChar char="§"/>
            </a:pPr>
            <a:r>
              <a:rPr lang="en-US" sz="1600" dirty="0" err="1">
                <a:latin typeface="Courier" pitchFamily="49" charset="0"/>
              </a:rPr>
              <a:t>SurveyItemReportName</a:t>
            </a:r>
            <a:r>
              <a:rPr lang="en-US" sz="1600" dirty="0"/>
              <a:t>: Brief description of question corresponding to </a:t>
            </a:r>
            <a:r>
              <a:rPr lang="en-US" sz="1600" dirty="0" err="1">
                <a:latin typeface="Courier" pitchFamily="49" charset="0"/>
              </a:rPr>
              <a:t>SurveyItemVariable</a:t>
            </a:r>
            <a:endParaRPr lang="en-US" sz="1600" dirty="0">
              <a:latin typeface="Courier" pitchFamily="49" charset="0"/>
            </a:endParaRPr>
          </a:p>
          <a:p>
            <a:pPr marL="228600" indent="-228600">
              <a:lnSpc>
                <a:spcPct val="90000"/>
              </a:lnSpc>
              <a:spcBef>
                <a:spcPts val="1000"/>
              </a:spcBef>
              <a:buClr>
                <a:schemeClr val="accent2">
                  <a:lumMod val="75000"/>
                </a:schemeClr>
              </a:buClr>
              <a:buFont typeface="Wingdings" panose="05000000000000000000" pitchFamily="2" charset="2"/>
              <a:buChar char="§"/>
            </a:pPr>
            <a:r>
              <a:rPr lang="en-US" sz="1600" b="1" dirty="0"/>
              <a:t>Patient</a:t>
            </a:r>
            <a:r>
              <a:rPr lang="en-US" sz="1600" dirty="0"/>
              <a:t>: Demographics table with </a:t>
            </a:r>
            <a:r>
              <a:rPr lang="en-US" sz="1600" dirty="0" err="1">
                <a:latin typeface="Courier" pitchFamily="49" charset="0"/>
              </a:rPr>
              <a:t>PatientSex</a:t>
            </a:r>
            <a:r>
              <a:rPr lang="en-US" sz="1600" dirty="0"/>
              <a:t> and </a:t>
            </a:r>
            <a:r>
              <a:rPr lang="en-US" sz="1600" dirty="0" err="1">
                <a:latin typeface="Courier" pitchFamily="49" charset="0"/>
              </a:rPr>
              <a:t>PatientBirthDateKey</a:t>
            </a:r>
            <a:r>
              <a:rPr lang="en-US" sz="1600" dirty="0"/>
              <a:t> (all birth-dates changed to January 1). Birthdate is in format YYYYMMDD.</a:t>
            </a:r>
          </a:p>
          <a:p>
            <a:pPr marL="228600" indent="-228600">
              <a:lnSpc>
                <a:spcPct val="90000"/>
              </a:lnSpc>
              <a:spcBef>
                <a:spcPts val="1000"/>
              </a:spcBef>
              <a:buClr>
                <a:schemeClr val="accent2">
                  <a:lumMod val="75000"/>
                </a:schemeClr>
              </a:buClr>
              <a:buFont typeface="Wingdings" panose="05000000000000000000" pitchFamily="2" charset="2"/>
              <a:buChar char="§"/>
            </a:pPr>
            <a:r>
              <a:rPr lang="en-US" sz="1600" b="1" dirty="0"/>
              <a:t>Response</a:t>
            </a:r>
            <a:r>
              <a:rPr lang="en-US" sz="1600" dirty="0"/>
              <a:t>: Table with survey response value (</a:t>
            </a:r>
            <a:r>
              <a:rPr lang="en-US" sz="1600" dirty="0" err="1">
                <a:latin typeface="Courier" pitchFamily="49" charset="0"/>
              </a:rPr>
              <a:t>SurveyResponse</a:t>
            </a:r>
            <a:r>
              <a:rPr lang="en-US" sz="1600" dirty="0"/>
              <a:t>), in a key-value structure; e.g. one row per item, per respondent. Also includes fields used to merge with </a:t>
            </a:r>
            <a:r>
              <a:rPr lang="en-US" sz="1600" b="1" dirty="0"/>
              <a:t>Survey</a:t>
            </a:r>
            <a:r>
              <a:rPr lang="en-US" sz="1600" dirty="0"/>
              <a:t>, </a:t>
            </a:r>
            <a:r>
              <a:rPr lang="en-US" sz="1600" b="1" dirty="0"/>
              <a:t>Patient</a:t>
            </a:r>
            <a:r>
              <a:rPr lang="en-US" sz="1600" dirty="0"/>
              <a:t> and </a:t>
            </a:r>
            <a:r>
              <a:rPr lang="en-US" sz="1600" b="1" dirty="0" err="1"/>
              <a:t>SurveyItem</a:t>
            </a:r>
            <a:r>
              <a:rPr lang="en-US" sz="1600" dirty="0"/>
              <a:t> fields.</a:t>
            </a:r>
          </a:p>
        </p:txBody>
      </p:sp>
    </p:spTree>
    <p:extLst>
      <p:ext uri="{BB962C8B-B14F-4D97-AF65-F5344CB8AC3E}">
        <p14:creationId xmlns:p14="http://schemas.microsoft.com/office/powerpoint/2010/main" val="16911196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Merged  tables</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169138"/>
            <a:ext cx="10515600" cy="5007825"/>
          </a:xfrm>
        </p:spPr>
        <p:txBody>
          <a:bodyPr>
            <a:normAutofit/>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Data Merging</a:t>
            </a:r>
          </a:p>
        </p:txBody>
      </p:sp>
      <p:sp>
        <p:nvSpPr>
          <p:cNvPr id="5" name="Rectangle 4">
            <a:extLst>
              <a:ext uri="{FF2B5EF4-FFF2-40B4-BE49-F238E27FC236}">
                <a16:creationId xmlns:a16="http://schemas.microsoft.com/office/drawing/2014/main" id="{1CE5CF00-2AF0-41FF-A876-FCD8C127FCE3}"/>
              </a:ext>
            </a:extLst>
          </p:cNvPr>
          <p:cNvSpPr/>
          <p:nvPr/>
        </p:nvSpPr>
        <p:spPr>
          <a:xfrm>
            <a:off x="838199" y="1157590"/>
            <a:ext cx="9171039" cy="1335750"/>
          </a:xfrm>
          <a:prstGeom prst="rect">
            <a:avLst/>
          </a:prstGeom>
        </p:spPr>
        <p:txBody>
          <a:bodyPr wrap="square">
            <a:spAutoFit/>
          </a:bodyPr>
          <a:lstStyle/>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See the attached R notebook for the data manipulations</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The two outputs </a:t>
            </a:r>
            <a:r>
              <a:rPr lang="en-US" sz="1600" dirty="0" err="1">
                <a:latin typeface="Courier" pitchFamily="49" charset="0"/>
              </a:rPr>
              <a:t>SurveyMatrix</a:t>
            </a:r>
            <a:r>
              <a:rPr lang="en-US" sz="1600" dirty="0"/>
              <a:t> and </a:t>
            </a:r>
            <a:r>
              <a:rPr lang="en-US" sz="1600" dirty="0" err="1">
                <a:latin typeface="Courier" pitchFamily="49" charset="0"/>
              </a:rPr>
              <a:t>MergedSurvey</a:t>
            </a:r>
            <a:r>
              <a:rPr lang="en-US" sz="1600" dirty="0"/>
              <a:t> are attached</a:t>
            </a:r>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spTree>
    <p:extLst>
      <p:ext uri="{BB962C8B-B14F-4D97-AF65-F5344CB8AC3E}">
        <p14:creationId xmlns:p14="http://schemas.microsoft.com/office/powerpoint/2010/main" val="28064518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5DA8-B7A7-452C-9369-4E03877D855D}"/>
              </a:ext>
            </a:extLst>
          </p:cNvPr>
          <p:cNvSpPr>
            <a:spLocks noGrp="1"/>
          </p:cNvSpPr>
          <p:nvPr>
            <p:ph type="ctrTitle"/>
          </p:nvPr>
        </p:nvSpPr>
        <p:spPr/>
        <p:txBody>
          <a:bodyPr/>
          <a:lstStyle/>
          <a:p>
            <a:r>
              <a:rPr lang="en-US" dirty="0"/>
              <a:t>Survey Results Summary</a:t>
            </a:r>
          </a:p>
        </p:txBody>
      </p:sp>
      <p:sp>
        <p:nvSpPr>
          <p:cNvPr id="3" name="Subtitle 2">
            <a:extLst>
              <a:ext uri="{FF2B5EF4-FFF2-40B4-BE49-F238E27FC236}">
                <a16:creationId xmlns:a16="http://schemas.microsoft.com/office/drawing/2014/main" id="{E16C1304-AFF5-4D8D-8485-40D43BFB23AD}"/>
              </a:ext>
            </a:extLst>
          </p:cNvPr>
          <p:cNvSpPr>
            <a:spLocks noGrp="1"/>
          </p:cNvSpPr>
          <p:nvPr>
            <p:ph type="subTitle" idx="1"/>
          </p:nvPr>
        </p:nvSpPr>
        <p:spPr/>
        <p:txBody>
          <a:bodyPr/>
          <a:lstStyle/>
          <a:p>
            <a:r>
              <a:rPr lang="en-US" dirty="0"/>
              <a:t>Visualizations &amp; Drill Down</a:t>
            </a:r>
          </a:p>
        </p:txBody>
      </p:sp>
    </p:spTree>
    <p:extLst>
      <p:ext uri="{BB962C8B-B14F-4D97-AF65-F5344CB8AC3E}">
        <p14:creationId xmlns:p14="http://schemas.microsoft.com/office/powerpoint/2010/main" val="31269024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Survey results by age and patient sex</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169138"/>
            <a:ext cx="10515600" cy="5007825"/>
          </a:xfrm>
        </p:spPr>
        <p:txBody>
          <a:bodyPr>
            <a:normAutofit/>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Analysis</a:t>
            </a:r>
          </a:p>
        </p:txBody>
      </p:sp>
      <p:sp>
        <p:nvSpPr>
          <p:cNvPr id="5" name="Rectangle 4">
            <a:extLst>
              <a:ext uri="{FF2B5EF4-FFF2-40B4-BE49-F238E27FC236}">
                <a16:creationId xmlns:a16="http://schemas.microsoft.com/office/drawing/2014/main" id="{1CE5CF00-2AF0-41FF-A876-FCD8C127FCE3}"/>
              </a:ext>
            </a:extLst>
          </p:cNvPr>
          <p:cNvSpPr/>
          <p:nvPr/>
        </p:nvSpPr>
        <p:spPr>
          <a:xfrm>
            <a:off x="838199" y="1157590"/>
            <a:ext cx="9171039" cy="1907189"/>
          </a:xfrm>
          <a:prstGeom prst="rect">
            <a:avLst/>
          </a:prstGeom>
        </p:spPr>
        <p:txBody>
          <a:bodyPr wrap="square">
            <a:spAutoFit/>
          </a:bodyPr>
          <a:lstStyle/>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Most survey respondents are older</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Less than 5% of male patients between the ages of 18-39 respond, whereas about 10% of female patients from this group do respond</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Looking at the number of respondents instead of the percentage shows a very similar pattern</a:t>
            </a:r>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pic>
        <p:nvPicPr>
          <p:cNvPr id="9" name="Picture 8">
            <a:extLst>
              <a:ext uri="{FF2B5EF4-FFF2-40B4-BE49-F238E27FC236}">
                <a16:creationId xmlns:a16="http://schemas.microsoft.com/office/drawing/2014/main" id="{ED7C8DD6-06AE-4688-A5E3-113934B97485}"/>
              </a:ext>
            </a:extLst>
          </p:cNvPr>
          <p:cNvPicPr>
            <a:picLocks noChangeAspect="1"/>
          </p:cNvPicPr>
          <p:nvPr/>
        </p:nvPicPr>
        <p:blipFill>
          <a:blip r:embed="rId2"/>
          <a:stretch>
            <a:fillRect/>
          </a:stretch>
        </p:blipFill>
        <p:spPr>
          <a:xfrm>
            <a:off x="2548967" y="5163984"/>
            <a:ext cx="6119706" cy="937138"/>
          </a:xfrm>
          <a:prstGeom prst="rect">
            <a:avLst/>
          </a:prstGeom>
        </p:spPr>
      </p:pic>
      <p:pic>
        <p:nvPicPr>
          <p:cNvPr id="12" name="Picture 11">
            <a:extLst>
              <a:ext uri="{FF2B5EF4-FFF2-40B4-BE49-F238E27FC236}">
                <a16:creationId xmlns:a16="http://schemas.microsoft.com/office/drawing/2014/main" id="{EC04A550-8E72-4908-8B0B-C0465C0F904A}"/>
              </a:ext>
            </a:extLst>
          </p:cNvPr>
          <p:cNvPicPr>
            <a:picLocks noChangeAspect="1"/>
          </p:cNvPicPr>
          <p:nvPr/>
        </p:nvPicPr>
        <p:blipFill>
          <a:blip r:embed="rId3"/>
          <a:stretch>
            <a:fillRect/>
          </a:stretch>
        </p:blipFill>
        <p:spPr>
          <a:xfrm>
            <a:off x="2017870" y="2655419"/>
            <a:ext cx="7420140" cy="2508565"/>
          </a:xfrm>
          <a:prstGeom prst="rect">
            <a:avLst/>
          </a:prstGeom>
        </p:spPr>
      </p:pic>
    </p:spTree>
    <p:extLst>
      <p:ext uri="{BB962C8B-B14F-4D97-AF65-F5344CB8AC3E}">
        <p14:creationId xmlns:p14="http://schemas.microsoft.com/office/powerpoint/2010/main" val="13848619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Creating a performance measure</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169138"/>
            <a:ext cx="10515600" cy="5007825"/>
          </a:xfrm>
        </p:spPr>
        <p:txBody>
          <a:bodyPr>
            <a:normAutofit/>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Analysis</a:t>
            </a:r>
          </a:p>
        </p:txBody>
      </p:sp>
      <p:sp>
        <p:nvSpPr>
          <p:cNvPr id="5" name="Rectangle 4">
            <a:extLst>
              <a:ext uri="{FF2B5EF4-FFF2-40B4-BE49-F238E27FC236}">
                <a16:creationId xmlns:a16="http://schemas.microsoft.com/office/drawing/2014/main" id="{1CE5CF00-2AF0-41FF-A876-FCD8C127FCE3}"/>
              </a:ext>
            </a:extLst>
          </p:cNvPr>
          <p:cNvSpPr/>
          <p:nvPr/>
        </p:nvSpPr>
        <p:spPr>
          <a:xfrm>
            <a:off x="838199" y="1157590"/>
            <a:ext cx="9171039" cy="1778949"/>
          </a:xfrm>
          <a:prstGeom prst="rect">
            <a:avLst/>
          </a:prstGeom>
        </p:spPr>
        <p:txBody>
          <a:bodyPr wrap="square">
            <a:spAutoFit/>
          </a:bodyPr>
          <a:lstStyle/>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“Top Box” performance shows the if a patient indicated that their quality or care was the highest possible value, a 4-out-of-4 rating</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This performance measure can be split by any member characteristics such as the patient’s sex, age group, the mode of the survey, or other information</a:t>
            </a:r>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spTree>
    <p:extLst>
      <p:ext uri="{BB962C8B-B14F-4D97-AF65-F5344CB8AC3E}">
        <p14:creationId xmlns:p14="http://schemas.microsoft.com/office/powerpoint/2010/main" val="2077996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Top box performance by age and patient sex</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169138"/>
            <a:ext cx="10515600" cy="5007825"/>
          </a:xfrm>
        </p:spPr>
        <p:txBody>
          <a:bodyPr>
            <a:normAutofit/>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Analysis</a:t>
            </a:r>
          </a:p>
        </p:txBody>
      </p:sp>
      <p:sp>
        <p:nvSpPr>
          <p:cNvPr id="5" name="Rectangle 4">
            <a:extLst>
              <a:ext uri="{FF2B5EF4-FFF2-40B4-BE49-F238E27FC236}">
                <a16:creationId xmlns:a16="http://schemas.microsoft.com/office/drawing/2014/main" id="{1CE5CF00-2AF0-41FF-A876-FCD8C127FCE3}"/>
              </a:ext>
            </a:extLst>
          </p:cNvPr>
          <p:cNvSpPr/>
          <p:nvPr/>
        </p:nvSpPr>
        <p:spPr>
          <a:xfrm>
            <a:off x="838199" y="1157590"/>
            <a:ext cx="9171039" cy="1778949"/>
          </a:xfrm>
          <a:prstGeom prst="rect">
            <a:avLst/>
          </a:prstGeom>
        </p:spPr>
        <p:txBody>
          <a:bodyPr wrap="square">
            <a:spAutoFit/>
          </a:bodyPr>
          <a:lstStyle/>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Men have higher top box percentages for ages 40+, and women have higher responses on average between the ages of 18-39</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Patients younger than 18 have higher responses on average.  Is this because the quality of care is better or because they are spending less time completing the survey?</a:t>
            </a:r>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pic>
        <p:nvPicPr>
          <p:cNvPr id="9" name="Picture 8">
            <a:extLst>
              <a:ext uri="{FF2B5EF4-FFF2-40B4-BE49-F238E27FC236}">
                <a16:creationId xmlns:a16="http://schemas.microsoft.com/office/drawing/2014/main" id="{ED7C8DD6-06AE-4688-A5E3-113934B97485}"/>
              </a:ext>
            </a:extLst>
          </p:cNvPr>
          <p:cNvPicPr>
            <a:picLocks noChangeAspect="1"/>
          </p:cNvPicPr>
          <p:nvPr/>
        </p:nvPicPr>
        <p:blipFill>
          <a:blip r:embed="rId2"/>
          <a:stretch>
            <a:fillRect/>
          </a:stretch>
        </p:blipFill>
        <p:spPr>
          <a:xfrm>
            <a:off x="2541472" y="5112027"/>
            <a:ext cx="6119706" cy="937138"/>
          </a:xfrm>
          <a:prstGeom prst="rect">
            <a:avLst/>
          </a:prstGeom>
        </p:spPr>
      </p:pic>
      <p:pic>
        <p:nvPicPr>
          <p:cNvPr id="8" name="Picture 7">
            <a:extLst>
              <a:ext uri="{FF2B5EF4-FFF2-40B4-BE49-F238E27FC236}">
                <a16:creationId xmlns:a16="http://schemas.microsoft.com/office/drawing/2014/main" id="{C5AFE7FD-AE3C-458A-8E72-60297F0D6C27}"/>
              </a:ext>
            </a:extLst>
          </p:cNvPr>
          <p:cNvPicPr>
            <a:picLocks noChangeAspect="1"/>
          </p:cNvPicPr>
          <p:nvPr/>
        </p:nvPicPr>
        <p:blipFill>
          <a:blip r:embed="rId3"/>
          <a:stretch>
            <a:fillRect/>
          </a:stretch>
        </p:blipFill>
        <p:spPr>
          <a:xfrm>
            <a:off x="2182762" y="2562539"/>
            <a:ext cx="6708100" cy="2543714"/>
          </a:xfrm>
          <a:prstGeom prst="rect">
            <a:avLst/>
          </a:prstGeom>
        </p:spPr>
      </p:pic>
    </p:spTree>
    <p:extLst>
      <p:ext uri="{BB962C8B-B14F-4D97-AF65-F5344CB8AC3E}">
        <p14:creationId xmlns:p14="http://schemas.microsoft.com/office/powerpoint/2010/main" val="2930250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Top box performance by mode of survey</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169138"/>
            <a:ext cx="10515600" cy="5007825"/>
          </a:xfrm>
        </p:spPr>
        <p:txBody>
          <a:bodyPr>
            <a:normAutofit/>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Analysis</a:t>
            </a:r>
          </a:p>
        </p:txBody>
      </p:sp>
      <p:sp>
        <p:nvSpPr>
          <p:cNvPr id="5" name="Rectangle 4">
            <a:extLst>
              <a:ext uri="{FF2B5EF4-FFF2-40B4-BE49-F238E27FC236}">
                <a16:creationId xmlns:a16="http://schemas.microsoft.com/office/drawing/2014/main" id="{1CE5CF00-2AF0-41FF-A876-FCD8C127FCE3}"/>
              </a:ext>
            </a:extLst>
          </p:cNvPr>
          <p:cNvSpPr/>
          <p:nvPr/>
        </p:nvSpPr>
        <p:spPr>
          <a:xfrm>
            <a:off x="838200" y="1374947"/>
            <a:ext cx="4903034" cy="1429109"/>
          </a:xfrm>
          <a:prstGeom prst="rect">
            <a:avLst/>
          </a:prstGeom>
        </p:spPr>
        <p:txBody>
          <a:bodyPr wrap="square">
            <a:spAutoFit/>
          </a:bodyPr>
          <a:lstStyle/>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Surveys can be completed either online or in paper form</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98% of patients completed the surveys in paper; 2% completed the surveys online</a:t>
            </a:r>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pic>
        <p:nvPicPr>
          <p:cNvPr id="8" name="Picture 7">
            <a:extLst>
              <a:ext uri="{FF2B5EF4-FFF2-40B4-BE49-F238E27FC236}">
                <a16:creationId xmlns:a16="http://schemas.microsoft.com/office/drawing/2014/main" id="{C1798F51-5C06-4320-8734-60DC8FE99FBF}"/>
              </a:ext>
            </a:extLst>
          </p:cNvPr>
          <p:cNvPicPr>
            <a:picLocks noChangeAspect="1"/>
          </p:cNvPicPr>
          <p:nvPr/>
        </p:nvPicPr>
        <p:blipFill>
          <a:blip r:embed="rId2"/>
          <a:stretch>
            <a:fillRect/>
          </a:stretch>
        </p:blipFill>
        <p:spPr>
          <a:xfrm>
            <a:off x="6091670" y="1169138"/>
            <a:ext cx="3189983" cy="4760784"/>
          </a:xfrm>
          <a:prstGeom prst="rect">
            <a:avLst/>
          </a:prstGeom>
        </p:spPr>
      </p:pic>
    </p:spTree>
    <p:extLst>
      <p:ext uri="{BB962C8B-B14F-4D97-AF65-F5344CB8AC3E}">
        <p14:creationId xmlns:p14="http://schemas.microsoft.com/office/powerpoint/2010/main" val="40631042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Quality of care by mode of survey</a:t>
            </a:r>
          </a:p>
        </p:txBody>
      </p:sp>
      <p:sp>
        <p:nvSpPr>
          <p:cNvPr id="3" name="Content Placeholder 2">
            <a:extLst>
              <a:ext uri="{FF2B5EF4-FFF2-40B4-BE49-F238E27FC236}">
                <a16:creationId xmlns:a16="http://schemas.microsoft.com/office/drawing/2014/main" id="{FB1E8C56-2E35-4E81-9869-643E23F80BBE}"/>
              </a:ext>
            </a:extLst>
          </p:cNvPr>
          <p:cNvSpPr>
            <a:spLocks noGrp="1"/>
          </p:cNvSpPr>
          <p:nvPr>
            <p:ph idx="1"/>
          </p:nvPr>
        </p:nvSpPr>
        <p:spPr>
          <a:xfrm>
            <a:off x="838200" y="1169138"/>
            <a:ext cx="10515600" cy="5007825"/>
          </a:xfrm>
        </p:spPr>
        <p:txBody>
          <a:bodyPr>
            <a:normAutofit/>
          </a:bodyPr>
          <a:lstStyle/>
          <a:p>
            <a:pPr marL="0" indent="0">
              <a:buNone/>
            </a:pPr>
            <a:endParaRPr lang="en-US" dirty="0"/>
          </a:p>
          <a:p>
            <a:pPr marL="0" indent="0">
              <a:buNone/>
            </a:pPr>
            <a:endParaRPr lang="en-US" dirty="0"/>
          </a:p>
        </p:txBody>
      </p:sp>
      <p:sp>
        <p:nvSpPr>
          <p:cNvPr id="4" name="TextBox 3">
            <a:extLst>
              <a:ext uri="{FF2B5EF4-FFF2-40B4-BE49-F238E27FC236}">
                <a16:creationId xmlns:a16="http://schemas.microsoft.com/office/drawing/2014/main" id="{36D2336A-2C5D-43BD-9352-246869EB344C}"/>
              </a:ext>
            </a:extLst>
          </p:cNvPr>
          <p:cNvSpPr txBox="1"/>
          <p:nvPr/>
        </p:nvSpPr>
        <p:spPr>
          <a:xfrm>
            <a:off x="9281653" y="450204"/>
            <a:ext cx="2215804" cy="461665"/>
          </a:xfrm>
          <a:prstGeom prst="rect">
            <a:avLst/>
          </a:prstGeom>
          <a:noFill/>
        </p:spPr>
        <p:txBody>
          <a:bodyPr wrap="square" rtlCol="0">
            <a:spAutoFit/>
          </a:bodyPr>
          <a:lstStyle/>
          <a:p>
            <a:r>
              <a:rPr lang="en-US" sz="2400" b="1" dirty="0">
                <a:solidFill>
                  <a:schemeClr val="bg1"/>
                </a:solidFill>
              </a:rPr>
              <a:t>Analysis</a:t>
            </a:r>
          </a:p>
        </p:txBody>
      </p:sp>
      <p:sp>
        <p:nvSpPr>
          <p:cNvPr id="5" name="Rectangle 4">
            <a:extLst>
              <a:ext uri="{FF2B5EF4-FFF2-40B4-BE49-F238E27FC236}">
                <a16:creationId xmlns:a16="http://schemas.microsoft.com/office/drawing/2014/main" id="{1CE5CF00-2AF0-41FF-A876-FCD8C127FCE3}"/>
              </a:ext>
            </a:extLst>
          </p:cNvPr>
          <p:cNvSpPr/>
          <p:nvPr/>
        </p:nvSpPr>
        <p:spPr>
          <a:xfrm>
            <a:off x="838200" y="1382442"/>
            <a:ext cx="4056089" cy="5266057"/>
          </a:xfrm>
          <a:prstGeom prst="rect">
            <a:avLst/>
          </a:prstGeom>
        </p:spPr>
        <p:txBody>
          <a:bodyPr wrap="square">
            <a:spAutoFit/>
          </a:bodyPr>
          <a:lstStyle/>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The biggest difference in performance from paper to online is in the overall “Quality of Care” and “Clarity of Treatment Plan”</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It is not clear whether or not patients have a choice between online or paper form.  If this is a choice, then there could be selection bias in the results.  For instance, patients who are too sick to write out on a paper form may have a third party fill it out online for them</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Patients indicate that the nursing staff was friendly about 80% of the time, which has very little difference between the mode of the survey</a:t>
            </a:r>
          </a:p>
          <a:p>
            <a:pPr marL="285750" indent="-228600">
              <a:lnSpc>
                <a:spcPct val="90000"/>
              </a:lnSpc>
              <a:spcBef>
                <a:spcPts val="1000"/>
              </a:spcBef>
              <a:buClr>
                <a:schemeClr val="accent2">
                  <a:lumMod val="75000"/>
                </a:schemeClr>
              </a:buClr>
              <a:buFont typeface="Wingdings" panose="05000000000000000000" pitchFamily="2" charset="2"/>
              <a:buChar char="§"/>
            </a:pPr>
            <a:r>
              <a:rPr lang="en-US" sz="1600" dirty="0"/>
              <a:t>Patients consistently have questions about the medicine instructions as the Top Box percentage is about 50%</a:t>
            </a:r>
          </a:p>
          <a:p>
            <a:pPr marL="57150">
              <a:lnSpc>
                <a:spcPct val="90000"/>
              </a:lnSpc>
              <a:spcBef>
                <a:spcPts val="1000"/>
              </a:spcBef>
              <a:buClr>
                <a:schemeClr val="accent2">
                  <a:lumMod val="75000"/>
                </a:schemeClr>
              </a:buClr>
            </a:pPr>
            <a:endParaRPr lang="en-US" sz="1600" dirty="0"/>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pic>
        <p:nvPicPr>
          <p:cNvPr id="7" name="Picture 6">
            <a:extLst>
              <a:ext uri="{FF2B5EF4-FFF2-40B4-BE49-F238E27FC236}">
                <a16:creationId xmlns:a16="http://schemas.microsoft.com/office/drawing/2014/main" id="{3B7F4059-A4F1-4C02-845C-AC0BE3CC9E0C}"/>
              </a:ext>
            </a:extLst>
          </p:cNvPr>
          <p:cNvPicPr>
            <a:picLocks noChangeAspect="1"/>
          </p:cNvPicPr>
          <p:nvPr/>
        </p:nvPicPr>
        <p:blipFill>
          <a:blip r:embed="rId2"/>
          <a:stretch>
            <a:fillRect/>
          </a:stretch>
        </p:blipFill>
        <p:spPr>
          <a:xfrm>
            <a:off x="5074170" y="1229193"/>
            <a:ext cx="6160959" cy="4871804"/>
          </a:xfrm>
          <a:prstGeom prst="rect">
            <a:avLst/>
          </a:prstGeom>
        </p:spPr>
      </p:pic>
    </p:spTree>
    <p:extLst>
      <p:ext uri="{BB962C8B-B14F-4D97-AF65-F5344CB8AC3E}">
        <p14:creationId xmlns:p14="http://schemas.microsoft.com/office/powerpoint/2010/main" val="6042177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5DA8-B7A7-452C-9369-4E03877D855D}"/>
              </a:ext>
            </a:extLst>
          </p:cNvPr>
          <p:cNvSpPr>
            <a:spLocks noGrp="1"/>
          </p:cNvSpPr>
          <p:nvPr>
            <p:ph type="ctrTitle"/>
          </p:nvPr>
        </p:nvSpPr>
        <p:spPr/>
        <p:txBody>
          <a:bodyPr/>
          <a:lstStyle/>
          <a:p>
            <a:r>
              <a:rPr lang="en-US" dirty="0"/>
              <a:t>Measuring Quality of Care</a:t>
            </a:r>
          </a:p>
        </p:txBody>
      </p:sp>
      <p:sp>
        <p:nvSpPr>
          <p:cNvPr id="3" name="Subtitle 2">
            <a:extLst>
              <a:ext uri="{FF2B5EF4-FFF2-40B4-BE49-F238E27FC236}">
                <a16:creationId xmlns:a16="http://schemas.microsoft.com/office/drawing/2014/main" id="{E16C1304-AFF5-4D8D-8485-40D43BFB23AD}"/>
              </a:ext>
            </a:extLst>
          </p:cNvPr>
          <p:cNvSpPr>
            <a:spLocks noGrp="1"/>
          </p:cNvSpPr>
          <p:nvPr>
            <p:ph type="subTitle" idx="1"/>
          </p:nvPr>
        </p:nvSpPr>
        <p:spPr/>
        <p:txBody>
          <a:bodyPr/>
          <a:lstStyle/>
          <a:p>
            <a:r>
              <a:rPr lang="en-US" dirty="0"/>
              <a:t>Visualizations &amp; Drill Down</a:t>
            </a:r>
          </a:p>
        </p:txBody>
      </p:sp>
    </p:spTree>
    <p:extLst>
      <p:ext uri="{BB962C8B-B14F-4D97-AF65-F5344CB8AC3E}">
        <p14:creationId xmlns:p14="http://schemas.microsoft.com/office/powerpoint/2010/main" val="3718442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Drivers of quality of care</a:t>
            </a:r>
          </a:p>
        </p:txBody>
      </p:sp>
      <p:sp>
        <p:nvSpPr>
          <p:cNvPr id="4" name="TextBox 3">
            <a:extLst>
              <a:ext uri="{FF2B5EF4-FFF2-40B4-BE49-F238E27FC236}">
                <a16:creationId xmlns:a16="http://schemas.microsoft.com/office/drawing/2014/main" id="{36D2336A-2C5D-43BD-9352-246869EB344C}"/>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
        <p:nvSpPr>
          <p:cNvPr id="5" name="Rectangle 4">
            <a:extLst>
              <a:ext uri="{FF2B5EF4-FFF2-40B4-BE49-F238E27FC236}">
                <a16:creationId xmlns:a16="http://schemas.microsoft.com/office/drawing/2014/main" id="{1CE5CF00-2AF0-41FF-A876-FCD8C127FCE3}"/>
              </a:ext>
            </a:extLst>
          </p:cNvPr>
          <p:cNvSpPr/>
          <p:nvPr/>
        </p:nvSpPr>
        <p:spPr>
          <a:xfrm>
            <a:off x="838200" y="1382442"/>
            <a:ext cx="10209551" cy="2035429"/>
          </a:xfrm>
          <a:prstGeom prst="rect">
            <a:avLst/>
          </a:prstGeom>
        </p:spPr>
        <p:txBody>
          <a:bodyPr wrap="square">
            <a:spAutoFit/>
          </a:bodyPr>
          <a:lstStyle/>
          <a:p>
            <a:pPr marL="57150">
              <a:lnSpc>
                <a:spcPct val="90000"/>
              </a:lnSpc>
              <a:spcBef>
                <a:spcPts val="1000"/>
              </a:spcBef>
              <a:buClr>
                <a:schemeClr val="accent2">
                  <a:lumMod val="75000"/>
                </a:schemeClr>
              </a:buClr>
            </a:pPr>
            <a:r>
              <a:rPr lang="en-US" sz="1600" dirty="0"/>
              <a:t>There are two components </a:t>
            </a:r>
          </a:p>
          <a:p>
            <a:pPr marL="514350" lvl="1">
              <a:lnSpc>
                <a:spcPct val="90000"/>
              </a:lnSpc>
              <a:spcBef>
                <a:spcPts val="1000"/>
              </a:spcBef>
              <a:buClr>
                <a:schemeClr val="accent2">
                  <a:lumMod val="75000"/>
                </a:schemeClr>
              </a:buClr>
            </a:pPr>
            <a:r>
              <a:rPr lang="en-US" sz="1600" dirty="0">
                <a:solidFill>
                  <a:schemeClr val="accent2"/>
                </a:solidFill>
              </a:rPr>
              <a:t>1.  </a:t>
            </a:r>
            <a:r>
              <a:rPr lang="en-US" sz="1600" dirty="0"/>
              <a:t>What the patient fills out on the form.  This is related to the overall “patient experience”</a:t>
            </a:r>
          </a:p>
          <a:p>
            <a:pPr marL="514350" lvl="1">
              <a:lnSpc>
                <a:spcPct val="90000"/>
              </a:lnSpc>
              <a:spcBef>
                <a:spcPts val="1000"/>
              </a:spcBef>
              <a:buClr>
                <a:schemeClr val="accent2">
                  <a:lumMod val="75000"/>
                </a:schemeClr>
              </a:buClr>
            </a:pPr>
            <a:r>
              <a:rPr lang="en-US" sz="1600" dirty="0">
                <a:solidFill>
                  <a:schemeClr val="accent2"/>
                </a:solidFill>
              </a:rPr>
              <a:t>2.  </a:t>
            </a:r>
            <a:r>
              <a:rPr lang="en-US" sz="1600" dirty="0"/>
              <a:t>The efficiency and proper medical treatment which the patient receives</a:t>
            </a:r>
          </a:p>
          <a:p>
            <a:pPr marL="57150">
              <a:lnSpc>
                <a:spcPct val="90000"/>
              </a:lnSpc>
              <a:spcBef>
                <a:spcPts val="1000"/>
              </a:spcBef>
              <a:buClr>
                <a:schemeClr val="accent2">
                  <a:lumMod val="75000"/>
                </a:schemeClr>
              </a:buClr>
            </a:pPr>
            <a:endParaRPr lang="en-US" sz="1600" dirty="0"/>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spTree>
    <p:extLst>
      <p:ext uri="{BB962C8B-B14F-4D97-AF65-F5344CB8AC3E}">
        <p14:creationId xmlns:p14="http://schemas.microsoft.com/office/powerpoint/2010/main" val="8815793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Drivers of quality of care</a:t>
            </a:r>
          </a:p>
        </p:txBody>
      </p:sp>
      <p:sp>
        <p:nvSpPr>
          <p:cNvPr id="5" name="Rectangle 4">
            <a:extLst>
              <a:ext uri="{FF2B5EF4-FFF2-40B4-BE49-F238E27FC236}">
                <a16:creationId xmlns:a16="http://schemas.microsoft.com/office/drawing/2014/main" id="{1CE5CF00-2AF0-41FF-A876-FCD8C127FCE3}"/>
              </a:ext>
            </a:extLst>
          </p:cNvPr>
          <p:cNvSpPr/>
          <p:nvPr/>
        </p:nvSpPr>
        <p:spPr>
          <a:xfrm>
            <a:off x="838200" y="1382442"/>
            <a:ext cx="10209551" cy="4006225"/>
          </a:xfrm>
          <a:prstGeom prst="rect">
            <a:avLst/>
          </a:prstGeom>
        </p:spPr>
        <p:txBody>
          <a:bodyPr wrap="square">
            <a:spAutoFit/>
          </a:bodyPr>
          <a:lstStyle/>
          <a:p>
            <a:pPr marL="57150">
              <a:lnSpc>
                <a:spcPct val="90000"/>
              </a:lnSpc>
              <a:spcBef>
                <a:spcPts val="1000"/>
              </a:spcBef>
              <a:buClr>
                <a:schemeClr val="accent2">
                  <a:lumMod val="75000"/>
                </a:schemeClr>
              </a:buClr>
            </a:pPr>
            <a:r>
              <a:rPr lang="en-US" sz="1600" dirty="0"/>
              <a:t>These can be broken down into sub-components</a:t>
            </a:r>
          </a:p>
          <a:p>
            <a:pPr marL="857250" lvl="1" indent="-342900">
              <a:lnSpc>
                <a:spcPct val="90000"/>
              </a:lnSpc>
              <a:spcBef>
                <a:spcPts val="1000"/>
              </a:spcBef>
              <a:buClr>
                <a:schemeClr val="accent2">
                  <a:lumMod val="75000"/>
                </a:schemeClr>
              </a:buClr>
              <a:buAutoNum type="arabicPeriod"/>
            </a:pPr>
            <a:r>
              <a:rPr lang="en-US" sz="1600" dirty="0"/>
              <a:t>What the patient fills out on the form.  This is related to the overall “patient experience”</a:t>
            </a:r>
          </a:p>
          <a:p>
            <a:pPr marL="1314450" lvl="2" indent="-342900">
              <a:lnSpc>
                <a:spcPct val="90000"/>
              </a:lnSpc>
              <a:spcBef>
                <a:spcPts val="1000"/>
              </a:spcBef>
              <a:buClr>
                <a:schemeClr val="accent2">
                  <a:lumMod val="75000"/>
                </a:schemeClr>
              </a:buClr>
              <a:buAutoNum type="arabicPeriod"/>
            </a:pPr>
            <a:r>
              <a:rPr lang="en-US" sz="1600" dirty="0"/>
              <a:t>Do they feel cared for?  Did the nursing staff and physician spend time with them? </a:t>
            </a:r>
          </a:p>
          <a:p>
            <a:pPr marL="1314450" lvl="2" indent="-342900">
              <a:lnSpc>
                <a:spcPct val="90000"/>
              </a:lnSpc>
              <a:spcBef>
                <a:spcPts val="1000"/>
              </a:spcBef>
              <a:buClr>
                <a:schemeClr val="accent2">
                  <a:lumMod val="75000"/>
                </a:schemeClr>
              </a:buClr>
              <a:buAutoNum type="arabicPeriod"/>
            </a:pPr>
            <a:r>
              <a:rPr lang="en-US" sz="1600" dirty="0"/>
              <a:t>Were they comfortable?  Did they have to wait in the ER for 5 hours?  Was the environment relaxing?</a:t>
            </a:r>
          </a:p>
          <a:p>
            <a:pPr marL="857250" lvl="1" indent="-342900">
              <a:lnSpc>
                <a:spcPct val="90000"/>
              </a:lnSpc>
              <a:spcBef>
                <a:spcPts val="1000"/>
              </a:spcBef>
              <a:buClr>
                <a:schemeClr val="accent2">
                  <a:lumMod val="75000"/>
                </a:schemeClr>
              </a:buClr>
              <a:buAutoNum type="arabicPeriod" startAt="2"/>
            </a:pPr>
            <a:r>
              <a:rPr lang="en-US" sz="1600" dirty="0"/>
              <a:t>The efficiency and proper medical treatment which the patient receives</a:t>
            </a:r>
          </a:p>
          <a:p>
            <a:pPr marL="1314450" lvl="2" indent="-342900">
              <a:lnSpc>
                <a:spcPct val="90000"/>
              </a:lnSpc>
              <a:spcBef>
                <a:spcPts val="1000"/>
              </a:spcBef>
              <a:buClr>
                <a:schemeClr val="accent2">
                  <a:lumMod val="75000"/>
                </a:schemeClr>
              </a:buClr>
              <a:buAutoNum type="arabicPeriod" startAt="2"/>
            </a:pPr>
            <a:r>
              <a:rPr lang="en-US" sz="1600" dirty="0"/>
              <a:t>Did they receive complete instructions on how to take their medication?</a:t>
            </a:r>
          </a:p>
          <a:p>
            <a:pPr marL="1314450" lvl="2" indent="-342900">
              <a:lnSpc>
                <a:spcPct val="90000"/>
              </a:lnSpc>
              <a:spcBef>
                <a:spcPts val="1000"/>
              </a:spcBef>
              <a:buClr>
                <a:schemeClr val="accent2">
                  <a:lumMod val="75000"/>
                </a:schemeClr>
              </a:buClr>
              <a:buAutoNum type="arabicPeriod" startAt="2"/>
            </a:pPr>
            <a:r>
              <a:rPr lang="en-US" sz="1600" dirty="0"/>
              <a:t>Was the physician able to prescribe treatment or were they just referred on to another medical professional?</a:t>
            </a:r>
          </a:p>
          <a:p>
            <a:pPr marL="1314450" lvl="2" indent="-342900">
              <a:lnSpc>
                <a:spcPct val="90000"/>
              </a:lnSpc>
              <a:spcBef>
                <a:spcPts val="1000"/>
              </a:spcBef>
              <a:buClr>
                <a:schemeClr val="accent2">
                  <a:lumMod val="75000"/>
                </a:schemeClr>
              </a:buClr>
              <a:buAutoNum type="arabicPeriod" startAt="2"/>
            </a:pPr>
            <a:r>
              <a:rPr lang="en-US" sz="1600" dirty="0"/>
              <a:t>Did they recover well or was there a relapse which results in further treatment?</a:t>
            </a:r>
          </a:p>
          <a:p>
            <a:pPr marL="57150">
              <a:lnSpc>
                <a:spcPct val="90000"/>
              </a:lnSpc>
              <a:spcBef>
                <a:spcPts val="1000"/>
              </a:spcBef>
              <a:buClr>
                <a:schemeClr val="accent2">
                  <a:lumMod val="75000"/>
                </a:schemeClr>
              </a:buClr>
            </a:pPr>
            <a:endParaRPr lang="en-US" sz="1600" dirty="0"/>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sp>
        <p:nvSpPr>
          <p:cNvPr id="7" name="TextBox 6">
            <a:extLst>
              <a:ext uri="{FF2B5EF4-FFF2-40B4-BE49-F238E27FC236}">
                <a16:creationId xmlns:a16="http://schemas.microsoft.com/office/drawing/2014/main" id="{8305D8BC-6392-46C2-82C6-E830D5815B87}"/>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Tree>
    <p:extLst>
      <p:ext uri="{BB962C8B-B14F-4D97-AF65-F5344CB8AC3E}">
        <p14:creationId xmlns:p14="http://schemas.microsoft.com/office/powerpoint/2010/main" val="2134985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Drivers of quality of care</a:t>
            </a:r>
          </a:p>
        </p:txBody>
      </p:sp>
      <p:sp>
        <p:nvSpPr>
          <p:cNvPr id="3" name="Rectangle: Rounded Corners 2">
            <a:extLst>
              <a:ext uri="{FF2B5EF4-FFF2-40B4-BE49-F238E27FC236}">
                <a16:creationId xmlns:a16="http://schemas.microsoft.com/office/drawing/2014/main" id="{87969CF8-A504-4786-8D9E-92AEDCAB3585}"/>
              </a:ext>
            </a:extLst>
          </p:cNvPr>
          <p:cNvSpPr/>
          <p:nvPr/>
        </p:nvSpPr>
        <p:spPr>
          <a:xfrm>
            <a:off x="3650103" y="1478614"/>
            <a:ext cx="2788171" cy="2561236"/>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E39D17C-C19F-4BDD-B843-A4E22749965A}"/>
              </a:ext>
            </a:extLst>
          </p:cNvPr>
          <p:cNvSpPr/>
          <p:nvPr/>
        </p:nvSpPr>
        <p:spPr>
          <a:xfrm>
            <a:off x="5351491" y="2339465"/>
            <a:ext cx="2788171" cy="25612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B04DBC1-050F-44E2-9E0D-80555878FFEE}"/>
              </a:ext>
            </a:extLst>
          </p:cNvPr>
          <p:cNvSpPr txBox="1"/>
          <p:nvPr/>
        </p:nvSpPr>
        <p:spPr>
          <a:xfrm>
            <a:off x="3957405" y="1693134"/>
            <a:ext cx="2788171" cy="646331"/>
          </a:xfrm>
          <a:prstGeom prst="rect">
            <a:avLst/>
          </a:prstGeom>
          <a:noFill/>
        </p:spPr>
        <p:txBody>
          <a:bodyPr wrap="square" rtlCol="0">
            <a:spAutoFit/>
          </a:bodyPr>
          <a:lstStyle/>
          <a:p>
            <a:r>
              <a:rPr lang="en-US" b="1" dirty="0">
                <a:solidFill>
                  <a:schemeClr val="accent2"/>
                </a:solidFill>
              </a:rPr>
              <a:t>Perceived Quality of Medical Care</a:t>
            </a:r>
          </a:p>
        </p:txBody>
      </p:sp>
      <p:sp>
        <p:nvSpPr>
          <p:cNvPr id="9" name="TextBox 8">
            <a:extLst>
              <a:ext uri="{FF2B5EF4-FFF2-40B4-BE49-F238E27FC236}">
                <a16:creationId xmlns:a16="http://schemas.microsoft.com/office/drawing/2014/main" id="{B345EB17-A022-4B4C-854F-2247198AAC6D}"/>
              </a:ext>
            </a:extLst>
          </p:cNvPr>
          <p:cNvSpPr txBox="1"/>
          <p:nvPr/>
        </p:nvSpPr>
        <p:spPr>
          <a:xfrm>
            <a:off x="6245903" y="4039850"/>
            <a:ext cx="2298492" cy="646331"/>
          </a:xfrm>
          <a:prstGeom prst="rect">
            <a:avLst/>
          </a:prstGeom>
          <a:noFill/>
        </p:spPr>
        <p:txBody>
          <a:bodyPr wrap="square" rtlCol="0">
            <a:spAutoFit/>
          </a:bodyPr>
          <a:lstStyle/>
          <a:p>
            <a:r>
              <a:rPr lang="en-US" b="1" dirty="0">
                <a:solidFill>
                  <a:schemeClr val="accent1">
                    <a:lumMod val="75000"/>
                  </a:schemeClr>
                </a:solidFill>
              </a:rPr>
              <a:t>Actual Quality of Medical Care</a:t>
            </a:r>
          </a:p>
        </p:txBody>
      </p:sp>
      <p:sp>
        <p:nvSpPr>
          <p:cNvPr id="10" name="TextBox 9">
            <a:extLst>
              <a:ext uri="{FF2B5EF4-FFF2-40B4-BE49-F238E27FC236}">
                <a16:creationId xmlns:a16="http://schemas.microsoft.com/office/drawing/2014/main" id="{F37E1599-5DBA-49E8-9F19-FD8D9B71D1BA}"/>
              </a:ext>
            </a:extLst>
          </p:cNvPr>
          <p:cNvSpPr txBox="1"/>
          <p:nvPr/>
        </p:nvSpPr>
        <p:spPr>
          <a:xfrm>
            <a:off x="900760" y="4187524"/>
            <a:ext cx="2962158" cy="1477328"/>
          </a:xfrm>
          <a:prstGeom prst="rect">
            <a:avLst/>
          </a:prstGeom>
          <a:noFill/>
        </p:spPr>
        <p:txBody>
          <a:bodyPr wrap="none" rtlCol="0">
            <a:spAutoFit/>
          </a:bodyPr>
          <a:lstStyle/>
          <a:p>
            <a:pPr marL="342900" indent="-342900">
              <a:buClr>
                <a:schemeClr val="accent2"/>
              </a:buClr>
              <a:buFont typeface="Wingdings" panose="05000000000000000000" pitchFamily="2" charset="2"/>
              <a:buChar char="§"/>
            </a:pPr>
            <a:r>
              <a:rPr lang="en-US" dirty="0">
                <a:solidFill>
                  <a:schemeClr val="accent2"/>
                </a:solidFill>
              </a:rPr>
              <a:t>Environment</a:t>
            </a:r>
          </a:p>
          <a:p>
            <a:pPr marL="342900" indent="-342900">
              <a:buClr>
                <a:schemeClr val="accent2"/>
              </a:buClr>
              <a:buFont typeface="Wingdings" panose="05000000000000000000" pitchFamily="2" charset="2"/>
              <a:buChar char="§"/>
            </a:pPr>
            <a:r>
              <a:rPr lang="en-US" dirty="0">
                <a:solidFill>
                  <a:schemeClr val="accent2"/>
                </a:solidFill>
              </a:rPr>
              <a:t>Time spent with nurse</a:t>
            </a:r>
          </a:p>
          <a:p>
            <a:pPr marL="342900" indent="-342900">
              <a:buClr>
                <a:schemeClr val="accent2"/>
              </a:buClr>
              <a:buFont typeface="Wingdings" panose="05000000000000000000" pitchFamily="2" charset="2"/>
              <a:buChar char="§"/>
            </a:pPr>
            <a:r>
              <a:rPr lang="en-US" dirty="0">
                <a:solidFill>
                  <a:schemeClr val="accent2"/>
                </a:solidFill>
              </a:rPr>
              <a:t>Time spent with physician</a:t>
            </a:r>
          </a:p>
          <a:p>
            <a:pPr marL="342900" indent="-342900">
              <a:buClr>
                <a:schemeClr val="accent2"/>
              </a:buClr>
              <a:buFont typeface="Wingdings" panose="05000000000000000000" pitchFamily="2" charset="2"/>
              <a:buChar char="§"/>
            </a:pPr>
            <a:r>
              <a:rPr lang="en-US" dirty="0">
                <a:solidFill>
                  <a:schemeClr val="accent2"/>
                </a:solidFill>
              </a:rPr>
              <a:t>Nurse was friendly</a:t>
            </a:r>
          </a:p>
          <a:p>
            <a:pPr marL="342900" indent="-342900">
              <a:buClr>
                <a:schemeClr val="accent2"/>
              </a:buClr>
              <a:buFont typeface="Wingdings" panose="05000000000000000000" pitchFamily="2" charset="2"/>
              <a:buChar char="§"/>
            </a:pPr>
            <a:r>
              <a:rPr lang="en-US" dirty="0">
                <a:solidFill>
                  <a:schemeClr val="accent2"/>
                </a:solidFill>
              </a:rPr>
              <a:t>Physician was friendly</a:t>
            </a:r>
          </a:p>
        </p:txBody>
      </p:sp>
      <p:sp>
        <p:nvSpPr>
          <p:cNvPr id="11" name="TextBox 10">
            <a:extLst>
              <a:ext uri="{FF2B5EF4-FFF2-40B4-BE49-F238E27FC236}">
                <a16:creationId xmlns:a16="http://schemas.microsoft.com/office/drawing/2014/main" id="{04D123A8-52F6-4974-8F73-DAF2BA251724}"/>
              </a:ext>
            </a:extLst>
          </p:cNvPr>
          <p:cNvSpPr txBox="1"/>
          <p:nvPr/>
        </p:nvSpPr>
        <p:spPr>
          <a:xfrm>
            <a:off x="8601855" y="1600801"/>
            <a:ext cx="2841612" cy="923330"/>
          </a:xfrm>
          <a:prstGeom prst="rect">
            <a:avLst/>
          </a:prstGeom>
          <a:noFill/>
        </p:spPr>
        <p:txBody>
          <a:bodyPr wrap="none" rtlCol="0">
            <a:spAutoFit/>
          </a:bodyPr>
          <a:lstStyle/>
          <a:p>
            <a:pPr marL="342900" indent="-342900">
              <a:buClr>
                <a:schemeClr val="accent1">
                  <a:lumMod val="75000"/>
                </a:schemeClr>
              </a:buClr>
              <a:buFont typeface="Wingdings" panose="05000000000000000000" pitchFamily="2" charset="2"/>
              <a:buChar char="§"/>
            </a:pPr>
            <a:r>
              <a:rPr lang="en-US" dirty="0">
                <a:solidFill>
                  <a:schemeClr val="accent1">
                    <a:lumMod val="50000"/>
                  </a:schemeClr>
                </a:solidFill>
              </a:rPr>
              <a:t>Clarity of treatment plan</a:t>
            </a:r>
          </a:p>
          <a:p>
            <a:pPr marL="342900" indent="-342900">
              <a:buClr>
                <a:schemeClr val="accent1">
                  <a:lumMod val="75000"/>
                </a:schemeClr>
              </a:buClr>
              <a:buFont typeface="Wingdings" panose="05000000000000000000" pitchFamily="2" charset="2"/>
              <a:buChar char="§"/>
            </a:pPr>
            <a:r>
              <a:rPr lang="en-US" dirty="0">
                <a:solidFill>
                  <a:schemeClr val="accent1">
                    <a:lumMod val="50000"/>
                  </a:schemeClr>
                </a:solidFill>
              </a:rPr>
              <a:t>Medicine instructions</a:t>
            </a:r>
          </a:p>
          <a:p>
            <a:pPr marL="342900" indent="-342900">
              <a:buClr>
                <a:schemeClr val="accent1">
                  <a:lumMod val="75000"/>
                </a:schemeClr>
              </a:buClr>
              <a:buFont typeface="Wingdings" panose="05000000000000000000" pitchFamily="2" charset="2"/>
              <a:buChar char="§"/>
            </a:pPr>
            <a:r>
              <a:rPr lang="en-US" dirty="0">
                <a:solidFill>
                  <a:schemeClr val="accent1">
                    <a:lumMod val="50000"/>
                  </a:schemeClr>
                </a:solidFill>
              </a:rPr>
              <a:t>Quality of care</a:t>
            </a:r>
          </a:p>
        </p:txBody>
      </p:sp>
      <p:sp>
        <p:nvSpPr>
          <p:cNvPr id="12" name="TextBox 11">
            <a:extLst>
              <a:ext uri="{FF2B5EF4-FFF2-40B4-BE49-F238E27FC236}">
                <a16:creationId xmlns:a16="http://schemas.microsoft.com/office/drawing/2014/main" id="{F24A27A6-B552-42D1-AD6F-52F441CD6B3D}"/>
              </a:ext>
            </a:extLst>
          </p:cNvPr>
          <p:cNvSpPr txBox="1"/>
          <p:nvPr/>
        </p:nvSpPr>
        <p:spPr>
          <a:xfrm>
            <a:off x="5512634" y="2810655"/>
            <a:ext cx="1079291" cy="646331"/>
          </a:xfrm>
          <a:prstGeom prst="rect">
            <a:avLst/>
          </a:prstGeom>
          <a:noFill/>
        </p:spPr>
        <p:txBody>
          <a:bodyPr wrap="square" rtlCol="0">
            <a:spAutoFit/>
          </a:bodyPr>
          <a:lstStyle/>
          <a:p>
            <a:r>
              <a:rPr lang="en-US" b="1" dirty="0"/>
              <a:t>Survey Results</a:t>
            </a:r>
          </a:p>
        </p:txBody>
      </p:sp>
      <p:sp>
        <p:nvSpPr>
          <p:cNvPr id="14" name="TextBox 13">
            <a:extLst>
              <a:ext uri="{FF2B5EF4-FFF2-40B4-BE49-F238E27FC236}">
                <a16:creationId xmlns:a16="http://schemas.microsoft.com/office/drawing/2014/main" id="{522BC1D8-6AD7-4396-A391-35870E3C6147}"/>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Tree>
    <p:extLst>
      <p:ext uri="{BB962C8B-B14F-4D97-AF65-F5344CB8AC3E}">
        <p14:creationId xmlns:p14="http://schemas.microsoft.com/office/powerpoint/2010/main" val="35830905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Drivers of quality of care</a:t>
            </a:r>
          </a:p>
        </p:txBody>
      </p:sp>
      <p:sp>
        <p:nvSpPr>
          <p:cNvPr id="3" name="Rectangle: Rounded Corners 2">
            <a:extLst>
              <a:ext uri="{FF2B5EF4-FFF2-40B4-BE49-F238E27FC236}">
                <a16:creationId xmlns:a16="http://schemas.microsoft.com/office/drawing/2014/main" id="{87969CF8-A504-4786-8D9E-92AEDCAB3585}"/>
              </a:ext>
            </a:extLst>
          </p:cNvPr>
          <p:cNvSpPr/>
          <p:nvPr/>
        </p:nvSpPr>
        <p:spPr>
          <a:xfrm>
            <a:off x="3650103" y="1478614"/>
            <a:ext cx="2788171" cy="2561236"/>
          </a:xfrm>
          <a:prstGeom prst="round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DE39D17C-C19F-4BDD-B843-A4E22749965A}"/>
              </a:ext>
            </a:extLst>
          </p:cNvPr>
          <p:cNvSpPr/>
          <p:nvPr/>
        </p:nvSpPr>
        <p:spPr>
          <a:xfrm>
            <a:off x="5351491" y="2339465"/>
            <a:ext cx="2788171" cy="2561236"/>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B04DBC1-050F-44E2-9E0D-80555878FFEE}"/>
              </a:ext>
            </a:extLst>
          </p:cNvPr>
          <p:cNvSpPr txBox="1"/>
          <p:nvPr/>
        </p:nvSpPr>
        <p:spPr>
          <a:xfrm>
            <a:off x="3957405" y="1693134"/>
            <a:ext cx="2788171" cy="646331"/>
          </a:xfrm>
          <a:prstGeom prst="rect">
            <a:avLst/>
          </a:prstGeom>
          <a:noFill/>
        </p:spPr>
        <p:txBody>
          <a:bodyPr wrap="square" rtlCol="0">
            <a:spAutoFit/>
          </a:bodyPr>
          <a:lstStyle/>
          <a:p>
            <a:r>
              <a:rPr lang="en-US" b="1" dirty="0">
                <a:solidFill>
                  <a:schemeClr val="accent2"/>
                </a:solidFill>
              </a:rPr>
              <a:t>Perceived Quality of Medical Care</a:t>
            </a:r>
          </a:p>
        </p:txBody>
      </p:sp>
      <p:sp>
        <p:nvSpPr>
          <p:cNvPr id="9" name="TextBox 8">
            <a:extLst>
              <a:ext uri="{FF2B5EF4-FFF2-40B4-BE49-F238E27FC236}">
                <a16:creationId xmlns:a16="http://schemas.microsoft.com/office/drawing/2014/main" id="{B345EB17-A022-4B4C-854F-2247198AAC6D}"/>
              </a:ext>
            </a:extLst>
          </p:cNvPr>
          <p:cNvSpPr txBox="1"/>
          <p:nvPr/>
        </p:nvSpPr>
        <p:spPr>
          <a:xfrm>
            <a:off x="6245903" y="4039850"/>
            <a:ext cx="2298492" cy="646331"/>
          </a:xfrm>
          <a:prstGeom prst="rect">
            <a:avLst/>
          </a:prstGeom>
          <a:noFill/>
        </p:spPr>
        <p:txBody>
          <a:bodyPr wrap="square" rtlCol="0">
            <a:spAutoFit/>
          </a:bodyPr>
          <a:lstStyle/>
          <a:p>
            <a:r>
              <a:rPr lang="en-US" b="1" dirty="0">
                <a:solidFill>
                  <a:schemeClr val="accent1">
                    <a:lumMod val="75000"/>
                  </a:schemeClr>
                </a:solidFill>
              </a:rPr>
              <a:t>Actual Quality of Medical Care</a:t>
            </a:r>
          </a:p>
        </p:txBody>
      </p:sp>
      <p:sp>
        <p:nvSpPr>
          <p:cNvPr id="10" name="TextBox 9">
            <a:extLst>
              <a:ext uri="{FF2B5EF4-FFF2-40B4-BE49-F238E27FC236}">
                <a16:creationId xmlns:a16="http://schemas.microsoft.com/office/drawing/2014/main" id="{F37E1599-5DBA-49E8-9F19-FD8D9B71D1BA}"/>
              </a:ext>
            </a:extLst>
          </p:cNvPr>
          <p:cNvSpPr txBox="1"/>
          <p:nvPr/>
        </p:nvSpPr>
        <p:spPr>
          <a:xfrm>
            <a:off x="900760" y="4187524"/>
            <a:ext cx="2962158" cy="1477328"/>
          </a:xfrm>
          <a:prstGeom prst="rect">
            <a:avLst/>
          </a:prstGeom>
          <a:noFill/>
        </p:spPr>
        <p:txBody>
          <a:bodyPr wrap="none" rtlCol="0">
            <a:spAutoFit/>
          </a:bodyPr>
          <a:lstStyle/>
          <a:p>
            <a:pPr marL="342900" indent="-342900">
              <a:buClr>
                <a:schemeClr val="accent2"/>
              </a:buClr>
              <a:buFont typeface="Wingdings" panose="05000000000000000000" pitchFamily="2" charset="2"/>
              <a:buChar char="§"/>
            </a:pPr>
            <a:r>
              <a:rPr lang="en-US" dirty="0">
                <a:solidFill>
                  <a:schemeClr val="accent2"/>
                </a:solidFill>
              </a:rPr>
              <a:t>Environment</a:t>
            </a:r>
          </a:p>
          <a:p>
            <a:pPr marL="342900" indent="-342900">
              <a:buClr>
                <a:schemeClr val="accent2"/>
              </a:buClr>
              <a:buFont typeface="Wingdings" panose="05000000000000000000" pitchFamily="2" charset="2"/>
              <a:buChar char="§"/>
            </a:pPr>
            <a:r>
              <a:rPr lang="en-US" dirty="0">
                <a:solidFill>
                  <a:schemeClr val="accent2"/>
                </a:solidFill>
              </a:rPr>
              <a:t>Time spent with nurse</a:t>
            </a:r>
          </a:p>
          <a:p>
            <a:pPr marL="342900" indent="-342900">
              <a:buClr>
                <a:schemeClr val="accent2"/>
              </a:buClr>
              <a:buFont typeface="Wingdings" panose="05000000000000000000" pitchFamily="2" charset="2"/>
              <a:buChar char="§"/>
            </a:pPr>
            <a:r>
              <a:rPr lang="en-US" dirty="0">
                <a:solidFill>
                  <a:schemeClr val="accent2"/>
                </a:solidFill>
              </a:rPr>
              <a:t>Time spent with physician</a:t>
            </a:r>
          </a:p>
          <a:p>
            <a:pPr marL="342900" indent="-342900">
              <a:buClr>
                <a:schemeClr val="accent2"/>
              </a:buClr>
              <a:buFont typeface="Wingdings" panose="05000000000000000000" pitchFamily="2" charset="2"/>
              <a:buChar char="§"/>
            </a:pPr>
            <a:r>
              <a:rPr lang="en-US" dirty="0">
                <a:solidFill>
                  <a:schemeClr val="accent2"/>
                </a:solidFill>
              </a:rPr>
              <a:t>Nurse was friendly</a:t>
            </a:r>
          </a:p>
          <a:p>
            <a:pPr marL="342900" indent="-342900">
              <a:buClr>
                <a:schemeClr val="accent2"/>
              </a:buClr>
              <a:buFont typeface="Wingdings" panose="05000000000000000000" pitchFamily="2" charset="2"/>
              <a:buChar char="§"/>
            </a:pPr>
            <a:r>
              <a:rPr lang="en-US" dirty="0">
                <a:solidFill>
                  <a:schemeClr val="accent2"/>
                </a:solidFill>
              </a:rPr>
              <a:t>Physician was friendly</a:t>
            </a:r>
          </a:p>
        </p:txBody>
      </p:sp>
      <p:sp>
        <p:nvSpPr>
          <p:cNvPr id="11" name="TextBox 10">
            <a:extLst>
              <a:ext uri="{FF2B5EF4-FFF2-40B4-BE49-F238E27FC236}">
                <a16:creationId xmlns:a16="http://schemas.microsoft.com/office/drawing/2014/main" id="{04D123A8-52F6-4974-8F73-DAF2BA251724}"/>
              </a:ext>
            </a:extLst>
          </p:cNvPr>
          <p:cNvSpPr txBox="1"/>
          <p:nvPr/>
        </p:nvSpPr>
        <p:spPr>
          <a:xfrm>
            <a:off x="8601856" y="1600801"/>
            <a:ext cx="3180414" cy="2585323"/>
          </a:xfrm>
          <a:prstGeom prst="rect">
            <a:avLst/>
          </a:prstGeom>
          <a:noFill/>
        </p:spPr>
        <p:txBody>
          <a:bodyPr wrap="square" rtlCol="0">
            <a:spAutoFit/>
          </a:bodyPr>
          <a:lstStyle/>
          <a:p>
            <a:pPr marL="342900" indent="-342900">
              <a:buClr>
                <a:schemeClr val="accent1">
                  <a:lumMod val="75000"/>
                </a:schemeClr>
              </a:buClr>
              <a:buFont typeface="Wingdings" panose="05000000000000000000" pitchFamily="2" charset="2"/>
              <a:buChar char="§"/>
            </a:pPr>
            <a:r>
              <a:rPr lang="en-US" dirty="0">
                <a:solidFill>
                  <a:schemeClr val="accent1">
                    <a:lumMod val="50000"/>
                  </a:schemeClr>
                </a:solidFill>
              </a:rPr>
              <a:t>Clarity of treatment plan</a:t>
            </a:r>
          </a:p>
          <a:p>
            <a:pPr marL="342900" indent="-342900">
              <a:buClr>
                <a:schemeClr val="accent1">
                  <a:lumMod val="75000"/>
                </a:schemeClr>
              </a:buClr>
              <a:buFont typeface="Wingdings" panose="05000000000000000000" pitchFamily="2" charset="2"/>
              <a:buChar char="§"/>
            </a:pPr>
            <a:r>
              <a:rPr lang="en-US" dirty="0">
                <a:solidFill>
                  <a:schemeClr val="accent1">
                    <a:lumMod val="50000"/>
                  </a:schemeClr>
                </a:solidFill>
              </a:rPr>
              <a:t>Medicine instructions</a:t>
            </a:r>
          </a:p>
          <a:p>
            <a:pPr marL="342900" indent="-342900">
              <a:buClr>
                <a:schemeClr val="accent1">
                  <a:lumMod val="75000"/>
                </a:schemeClr>
              </a:buClr>
              <a:buFont typeface="Wingdings" panose="05000000000000000000" pitchFamily="2" charset="2"/>
              <a:buChar char="§"/>
            </a:pPr>
            <a:r>
              <a:rPr lang="en-US" dirty="0">
                <a:solidFill>
                  <a:schemeClr val="accent1">
                    <a:lumMod val="50000"/>
                  </a:schemeClr>
                </a:solidFill>
              </a:rPr>
              <a:t>Quality of care</a:t>
            </a:r>
          </a:p>
          <a:p>
            <a:pPr marL="342900" indent="-342900">
              <a:buClr>
                <a:schemeClr val="bg2">
                  <a:lumMod val="50000"/>
                </a:schemeClr>
              </a:buClr>
              <a:buFont typeface="Wingdings" panose="05000000000000000000" pitchFamily="2" charset="2"/>
              <a:buChar char="§"/>
            </a:pPr>
            <a:r>
              <a:rPr lang="en-US" dirty="0">
                <a:solidFill>
                  <a:schemeClr val="bg2">
                    <a:lumMod val="50000"/>
                  </a:schemeClr>
                </a:solidFill>
              </a:rPr>
              <a:t>Patient recovery time</a:t>
            </a:r>
          </a:p>
          <a:p>
            <a:pPr marL="342900" indent="-342900">
              <a:buClr>
                <a:schemeClr val="bg2">
                  <a:lumMod val="50000"/>
                </a:schemeClr>
              </a:buClr>
              <a:buFont typeface="Wingdings" panose="05000000000000000000" pitchFamily="2" charset="2"/>
              <a:buChar char="§"/>
            </a:pPr>
            <a:r>
              <a:rPr lang="en-US" dirty="0">
                <a:solidFill>
                  <a:schemeClr val="bg2">
                    <a:lumMod val="50000"/>
                  </a:schemeClr>
                </a:solidFill>
              </a:rPr>
              <a:t>Mortality rates due to surgery</a:t>
            </a:r>
          </a:p>
          <a:p>
            <a:pPr marL="342900" indent="-342900">
              <a:buClr>
                <a:schemeClr val="bg2">
                  <a:lumMod val="50000"/>
                </a:schemeClr>
              </a:buClr>
              <a:buFont typeface="Wingdings" panose="05000000000000000000" pitchFamily="2" charset="2"/>
              <a:buChar char="§"/>
            </a:pPr>
            <a:r>
              <a:rPr lang="en-US" dirty="0">
                <a:solidFill>
                  <a:schemeClr val="bg2">
                    <a:lumMod val="50000"/>
                  </a:schemeClr>
                </a:solidFill>
              </a:rPr>
              <a:t>Surgical complication &amp; infection rates</a:t>
            </a:r>
          </a:p>
          <a:p>
            <a:pPr marL="342900" indent="-342900">
              <a:buClr>
                <a:schemeClr val="accent1">
                  <a:lumMod val="75000"/>
                </a:schemeClr>
              </a:buClr>
              <a:buFont typeface="Wingdings" panose="05000000000000000000" pitchFamily="2" charset="2"/>
              <a:buChar char="§"/>
            </a:pPr>
            <a:endParaRPr lang="en-US" dirty="0"/>
          </a:p>
        </p:txBody>
      </p:sp>
      <p:sp>
        <p:nvSpPr>
          <p:cNvPr id="12" name="TextBox 11">
            <a:extLst>
              <a:ext uri="{FF2B5EF4-FFF2-40B4-BE49-F238E27FC236}">
                <a16:creationId xmlns:a16="http://schemas.microsoft.com/office/drawing/2014/main" id="{F24A27A6-B552-42D1-AD6F-52F441CD6B3D}"/>
              </a:ext>
            </a:extLst>
          </p:cNvPr>
          <p:cNvSpPr txBox="1"/>
          <p:nvPr/>
        </p:nvSpPr>
        <p:spPr>
          <a:xfrm>
            <a:off x="5512634" y="2810655"/>
            <a:ext cx="1079291" cy="646331"/>
          </a:xfrm>
          <a:prstGeom prst="rect">
            <a:avLst/>
          </a:prstGeom>
          <a:noFill/>
        </p:spPr>
        <p:txBody>
          <a:bodyPr wrap="square" rtlCol="0">
            <a:spAutoFit/>
          </a:bodyPr>
          <a:lstStyle/>
          <a:p>
            <a:r>
              <a:rPr lang="en-US" b="1" dirty="0"/>
              <a:t>Survey Results</a:t>
            </a:r>
          </a:p>
        </p:txBody>
      </p:sp>
      <p:sp>
        <p:nvSpPr>
          <p:cNvPr id="5" name="Arrow: Down 4">
            <a:extLst>
              <a:ext uri="{FF2B5EF4-FFF2-40B4-BE49-F238E27FC236}">
                <a16:creationId xmlns:a16="http://schemas.microsoft.com/office/drawing/2014/main" id="{C67FD349-F371-412E-8382-BC69061B5E32}"/>
              </a:ext>
            </a:extLst>
          </p:cNvPr>
          <p:cNvSpPr/>
          <p:nvPr/>
        </p:nvSpPr>
        <p:spPr>
          <a:xfrm rot="13539370">
            <a:off x="8167808" y="4200255"/>
            <a:ext cx="810636" cy="1244183"/>
          </a:xfrm>
          <a:prstGeom prst="downArrow">
            <a:avLst/>
          </a:prstGeom>
          <a:solidFill>
            <a:schemeClr val="bg2">
              <a:lumMod val="90000"/>
            </a:schemeClr>
          </a:solidFill>
          <a:ln>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bg2">
                    <a:lumMod val="50000"/>
                  </a:schemeClr>
                </a:solidFill>
              </a:ln>
              <a:solidFill>
                <a:schemeClr val="bg2">
                  <a:lumMod val="75000"/>
                </a:schemeClr>
              </a:solidFill>
            </a:endParaRPr>
          </a:p>
        </p:txBody>
      </p:sp>
      <p:sp>
        <p:nvSpPr>
          <p:cNvPr id="8" name="TextBox 7">
            <a:extLst>
              <a:ext uri="{FF2B5EF4-FFF2-40B4-BE49-F238E27FC236}">
                <a16:creationId xmlns:a16="http://schemas.microsoft.com/office/drawing/2014/main" id="{DB0B8AE1-A4CF-4A75-8983-9E00B0486204}"/>
              </a:ext>
            </a:extLst>
          </p:cNvPr>
          <p:cNvSpPr txBox="1"/>
          <p:nvPr/>
        </p:nvSpPr>
        <p:spPr>
          <a:xfrm>
            <a:off x="6245903" y="5361299"/>
            <a:ext cx="1856280" cy="369332"/>
          </a:xfrm>
          <a:prstGeom prst="rect">
            <a:avLst/>
          </a:prstGeom>
          <a:solidFill>
            <a:schemeClr val="bg2">
              <a:lumMod val="90000"/>
            </a:schemeClr>
          </a:solidFill>
        </p:spPr>
        <p:txBody>
          <a:bodyPr wrap="square" rtlCol="0">
            <a:spAutoFit/>
          </a:bodyPr>
          <a:lstStyle/>
          <a:p>
            <a:r>
              <a:rPr lang="en-US" dirty="0"/>
              <a:t>Not in surveys</a:t>
            </a:r>
          </a:p>
        </p:txBody>
      </p:sp>
      <p:sp>
        <p:nvSpPr>
          <p:cNvPr id="14" name="TextBox 13">
            <a:extLst>
              <a:ext uri="{FF2B5EF4-FFF2-40B4-BE49-F238E27FC236}">
                <a16:creationId xmlns:a16="http://schemas.microsoft.com/office/drawing/2014/main" id="{9ECDA55A-2B0D-43F6-A261-F6BCB534CC4A}"/>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Tree>
    <p:extLst>
      <p:ext uri="{BB962C8B-B14F-4D97-AF65-F5344CB8AC3E}">
        <p14:creationId xmlns:p14="http://schemas.microsoft.com/office/powerpoint/2010/main" val="3697842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Drivers of quality of care</a:t>
            </a:r>
          </a:p>
        </p:txBody>
      </p:sp>
      <p:sp>
        <p:nvSpPr>
          <p:cNvPr id="5" name="Rectangle 4">
            <a:extLst>
              <a:ext uri="{FF2B5EF4-FFF2-40B4-BE49-F238E27FC236}">
                <a16:creationId xmlns:a16="http://schemas.microsoft.com/office/drawing/2014/main" id="{1CE5CF00-2AF0-41FF-A876-FCD8C127FCE3}"/>
              </a:ext>
            </a:extLst>
          </p:cNvPr>
          <p:cNvSpPr/>
          <p:nvPr/>
        </p:nvSpPr>
        <p:spPr>
          <a:xfrm>
            <a:off x="838200" y="1382442"/>
            <a:ext cx="10209551" cy="1557349"/>
          </a:xfrm>
          <a:prstGeom prst="rect">
            <a:avLst/>
          </a:prstGeom>
        </p:spPr>
        <p:txBody>
          <a:bodyPr wrap="square">
            <a:spAutoFit/>
          </a:bodyPr>
          <a:lstStyle/>
          <a:p>
            <a:pPr marL="57150">
              <a:lnSpc>
                <a:spcPct val="90000"/>
              </a:lnSpc>
              <a:spcBef>
                <a:spcPts val="1000"/>
              </a:spcBef>
              <a:buClr>
                <a:schemeClr val="accent2">
                  <a:lumMod val="75000"/>
                </a:schemeClr>
              </a:buClr>
            </a:pPr>
            <a:r>
              <a:rPr lang="en-US" sz="1600" dirty="0"/>
              <a:t>What is the distinction between “Top Box” and </a:t>
            </a:r>
            <a:r>
              <a:rPr lang="en-US" sz="1600" i="1" dirty="0"/>
              <a:t>Quality of Care</a:t>
            </a:r>
            <a:r>
              <a:rPr lang="en-US" sz="1600" dirty="0"/>
              <a:t>?  This this is a highly debated question in health care today.  This analysis is assuming that the two are correlated.</a:t>
            </a:r>
          </a:p>
          <a:p>
            <a:pPr marL="57150">
              <a:lnSpc>
                <a:spcPct val="90000"/>
              </a:lnSpc>
              <a:spcBef>
                <a:spcPts val="1000"/>
              </a:spcBef>
              <a:buClr>
                <a:schemeClr val="accent2">
                  <a:lumMod val="75000"/>
                </a:schemeClr>
              </a:buClr>
            </a:pPr>
            <a:endParaRPr lang="en-US" sz="1600" dirty="0"/>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sp>
        <p:nvSpPr>
          <p:cNvPr id="3" name="TextBox 2">
            <a:extLst>
              <a:ext uri="{FF2B5EF4-FFF2-40B4-BE49-F238E27FC236}">
                <a16:creationId xmlns:a16="http://schemas.microsoft.com/office/drawing/2014/main" id="{C6DB26B9-3897-4CF6-8576-BB08BA96F609}"/>
              </a:ext>
            </a:extLst>
          </p:cNvPr>
          <p:cNvSpPr txBox="1"/>
          <p:nvPr/>
        </p:nvSpPr>
        <p:spPr>
          <a:xfrm>
            <a:off x="2503358" y="3060130"/>
            <a:ext cx="2750695" cy="646331"/>
          </a:xfrm>
          <a:prstGeom prst="rect">
            <a:avLst/>
          </a:prstGeom>
          <a:noFill/>
        </p:spPr>
        <p:txBody>
          <a:bodyPr wrap="square" rtlCol="0">
            <a:spAutoFit/>
          </a:bodyPr>
          <a:lstStyle/>
          <a:p>
            <a:r>
              <a:rPr lang="en-US" b="1" dirty="0">
                <a:solidFill>
                  <a:schemeClr val="accent2"/>
                </a:solidFill>
              </a:rPr>
              <a:t>Patient Satisfaction from Survey Results</a:t>
            </a:r>
          </a:p>
        </p:txBody>
      </p:sp>
      <p:sp>
        <p:nvSpPr>
          <p:cNvPr id="8" name="TextBox 7">
            <a:extLst>
              <a:ext uri="{FF2B5EF4-FFF2-40B4-BE49-F238E27FC236}">
                <a16:creationId xmlns:a16="http://schemas.microsoft.com/office/drawing/2014/main" id="{95DF6573-FA14-40AC-A92E-8E67EF0C66FD}"/>
              </a:ext>
            </a:extLst>
          </p:cNvPr>
          <p:cNvSpPr txBox="1"/>
          <p:nvPr/>
        </p:nvSpPr>
        <p:spPr>
          <a:xfrm>
            <a:off x="6463261" y="3060130"/>
            <a:ext cx="2750695" cy="646331"/>
          </a:xfrm>
          <a:prstGeom prst="rect">
            <a:avLst/>
          </a:prstGeom>
          <a:noFill/>
        </p:spPr>
        <p:txBody>
          <a:bodyPr wrap="square" rtlCol="0">
            <a:spAutoFit/>
          </a:bodyPr>
          <a:lstStyle/>
          <a:p>
            <a:r>
              <a:rPr lang="en-US" b="1" dirty="0">
                <a:solidFill>
                  <a:schemeClr val="accent1"/>
                </a:solidFill>
              </a:rPr>
              <a:t>Quality of Medical Care Received</a:t>
            </a:r>
          </a:p>
        </p:txBody>
      </p:sp>
      <p:cxnSp>
        <p:nvCxnSpPr>
          <p:cNvPr id="10" name="Straight Arrow Connector 9">
            <a:extLst>
              <a:ext uri="{FF2B5EF4-FFF2-40B4-BE49-F238E27FC236}">
                <a16:creationId xmlns:a16="http://schemas.microsoft.com/office/drawing/2014/main" id="{1CFEB1E5-988B-4BAB-A31D-64DA40C4DACD}"/>
              </a:ext>
            </a:extLst>
          </p:cNvPr>
          <p:cNvCxnSpPr/>
          <p:nvPr/>
        </p:nvCxnSpPr>
        <p:spPr>
          <a:xfrm>
            <a:off x="5441430" y="3383295"/>
            <a:ext cx="764498" cy="0"/>
          </a:xfrm>
          <a:prstGeom prst="straightConnector1">
            <a:avLst/>
          </a:prstGeom>
          <a:ln w="762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D6646CA9-662E-4CC5-BE4C-058C1B256DD8}"/>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Tree>
    <p:extLst>
      <p:ext uri="{BB962C8B-B14F-4D97-AF65-F5344CB8AC3E}">
        <p14:creationId xmlns:p14="http://schemas.microsoft.com/office/powerpoint/2010/main" val="2902903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07E18058-8376-473A-B71D-C46B94C1E30B}"/>
              </a:ext>
            </a:extLst>
          </p:cNvPr>
          <p:cNvPicPr>
            <a:picLocks noChangeAspect="1"/>
          </p:cNvPicPr>
          <p:nvPr/>
        </p:nvPicPr>
        <p:blipFill>
          <a:blip r:embed="rId2"/>
          <a:stretch>
            <a:fillRect/>
          </a:stretch>
        </p:blipFill>
        <p:spPr>
          <a:xfrm>
            <a:off x="2849381" y="2446098"/>
            <a:ext cx="5638800" cy="1676400"/>
          </a:xfrm>
          <a:prstGeom prst="rect">
            <a:avLst/>
          </a:prstGeom>
        </p:spPr>
      </p:pic>
      <p:sp>
        <p:nvSpPr>
          <p:cNvPr id="5" name="Rectangle 4">
            <a:extLst>
              <a:ext uri="{FF2B5EF4-FFF2-40B4-BE49-F238E27FC236}">
                <a16:creationId xmlns:a16="http://schemas.microsoft.com/office/drawing/2014/main" id="{1CE5CF00-2AF0-41FF-A876-FCD8C127FCE3}"/>
              </a:ext>
            </a:extLst>
          </p:cNvPr>
          <p:cNvSpPr/>
          <p:nvPr/>
        </p:nvSpPr>
        <p:spPr>
          <a:xfrm>
            <a:off x="838200" y="1382442"/>
            <a:ext cx="10209551" cy="1685590"/>
          </a:xfrm>
          <a:prstGeom prst="rect">
            <a:avLst/>
          </a:prstGeom>
        </p:spPr>
        <p:txBody>
          <a:bodyPr wrap="square">
            <a:spAutoFit/>
          </a:bodyPr>
          <a:lstStyle/>
          <a:p>
            <a:pPr marL="342900" indent="-285750">
              <a:lnSpc>
                <a:spcPct val="90000"/>
              </a:lnSpc>
              <a:spcBef>
                <a:spcPts val="1000"/>
              </a:spcBef>
              <a:buClr>
                <a:schemeClr val="accent2">
                  <a:lumMod val="75000"/>
                </a:schemeClr>
              </a:buClr>
              <a:buFont typeface="Wingdings" panose="05000000000000000000" pitchFamily="2" charset="2"/>
              <a:buChar char="§"/>
            </a:pPr>
            <a:r>
              <a:rPr lang="en-US" sz="1600" dirty="0"/>
              <a:t>Each question can be answered on a scale of 1-4.</a:t>
            </a:r>
          </a:p>
          <a:p>
            <a:pPr marL="342900" indent="-285750">
              <a:lnSpc>
                <a:spcPct val="90000"/>
              </a:lnSpc>
              <a:spcBef>
                <a:spcPts val="1000"/>
              </a:spcBef>
              <a:buClr>
                <a:schemeClr val="accent2">
                  <a:lumMod val="75000"/>
                </a:schemeClr>
              </a:buClr>
              <a:buFont typeface="Wingdings" panose="05000000000000000000" pitchFamily="2" charset="2"/>
              <a:buChar char="§"/>
            </a:pPr>
            <a:r>
              <a:rPr lang="en-US" sz="1600" dirty="0"/>
              <a:t>For easier interpretation, let’s add labels to indicate a positive response verses a negative response</a:t>
            </a:r>
          </a:p>
          <a:p>
            <a:pPr marL="342900" indent="-285750">
              <a:lnSpc>
                <a:spcPct val="90000"/>
              </a:lnSpc>
              <a:spcBef>
                <a:spcPts val="1000"/>
              </a:spcBef>
              <a:buClr>
                <a:schemeClr val="accent2">
                  <a:lumMod val="75000"/>
                </a:schemeClr>
              </a:buClr>
              <a:buFont typeface="Wingdings" panose="05000000000000000000" pitchFamily="2" charset="2"/>
              <a:buChar char="§"/>
            </a:pPr>
            <a:endParaRPr lang="en-US" sz="1600" dirty="0"/>
          </a:p>
          <a:p>
            <a:pPr marL="342900" indent="-285750">
              <a:lnSpc>
                <a:spcPct val="90000"/>
              </a:lnSpc>
              <a:spcBef>
                <a:spcPts val="1000"/>
              </a:spcBef>
              <a:buClr>
                <a:schemeClr val="accent2">
                  <a:lumMod val="75000"/>
                </a:schemeClr>
              </a:buClr>
              <a:buFont typeface="Wingdings" panose="05000000000000000000" pitchFamily="2" charset="2"/>
              <a:buChar char="§"/>
            </a:pPr>
            <a:endParaRPr lang="en-US" sz="1600" dirty="0"/>
          </a:p>
          <a:p>
            <a:pPr marL="742950" lvl="1" indent="-285750">
              <a:lnSpc>
                <a:spcPct val="90000"/>
              </a:lnSpc>
              <a:spcBef>
                <a:spcPts val="1000"/>
              </a:spcBef>
              <a:buClr>
                <a:schemeClr val="accent2">
                  <a:lumMod val="75000"/>
                </a:schemeClr>
              </a:buClr>
              <a:buFont typeface="Wingdings" panose="05000000000000000000" pitchFamily="2" charset="2"/>
              <a:buChar char="§"/>
            </a:pPr>
            <a:endParaRPr lang="en-US" sz="1400" dirty="0"/>
          </a:p>
        </p:txBody>
      </p:sp>
      <p:cxnSp>
        <p:nvCxnSpPr>
          <p:cNvPr id="4" name="Straight Arrow Connector 3">
            <a:extLst>
              <a:ext uri="{FF2B5EF4-FFF2-40B4-BE49-F238E27FC236}">
                <a16:creationId xmlns:a16="http://schemas.microsoft.com/office/drawing/2014/main" id="{227C31A8-EFF6-43A8-B538-B47B28C75088}"/>
              </a:ext>
            </a:extLst>
          </p:cNvPr>
          <p:cNvCxnSpPr>
            <a:cxnSpLocks/>
          </p:cNvCxnSpPr>
          <p:nvPr/>
        </p:nvCxnSpPr>
        <p:spPr>
          <a:xfrm flipH="1" flipV="1">
            <a:off x="7330191" y="3948974"/>
            <a:ext cx="427219" cy="52465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C756401-BFC3-4DB7-99B0-06C14D3E64FB}"/>
              </a:ext>
            </a:extLst>
          </p:cNvPr>
          <p:cNvSpPr txBox="1"/>
          <p:nvPr/>
        </p:nvSpPr>
        <p:spPr>
          <a:xfrm>
            <a:off x="7860233" y="4473626"/>
            <a:ext cx="2960557" cy="1200329"/>
          </a:xfrm>
          <a:prstGeom prst="rect">
            <a:avLst/>
          </a:prstGeom>
          <a:solidFill>
            <a:schemeClr val="bg1">
              <a:lumMod val="95000"/>
            </a:schemeClr>
          </a:solidFill>
        </p:spPr>
        <p:txBody>
          <a:bodyPr wrap="square" rtlCol="0">
            <a:spAutoFit/>
          </a:bodyPr>
          <a:lstStyle/>
          <a:p>
            <a:r>
              <a:rPr lang="en-US" dirty="0"/>
              <a:t>About 3000 patients indicated that their “Quality of Care” was 4/4, or “Excellent”</a:t>
            </a:r>
          </a:p>
        </p:txBody>
      </p:sp>
      <p:sp>
        <p:nvSpPr>
          <p:cNvPr id="13" name="TextBox 12">
            <a:extLst>
              <a:ext uri="{FF2B5EF4-FFF2-40B4-BE49-F238E27FC236}">
                <a16:creationId xmlns:a16="http://schemas.microsoft.com/office/drawing/2014/main" id="{01AB66D0-E5D5-4C22-8E8E-468ADDA1B66A}"/>
              </a:ext>
            </a:extLst>
          </p:cNvPr>
          <p:cNvSpPr txBox="1"/>
          <p:nvPr/>
        </p:nvSpPr>
        <p:spPr>
          <a:xfrm>
            <a:off x="2158974" y="4603541"/>
            <a:ext cx="2960557" cy="923330"/>
          </a:xfrm>
          <a:prstGeom prst="rect">
            <a:avLst/>
          </a:prstGeom>
          <a:solidFill>
            <a:schemeClr val="bg1">
              <a:lumMod val="95000"/>
            </a:schemeClr>
          </a:solidFill>
        </p:spPr>
        <p:txBody>
          <a:bodyPr wrap="square" rtlCol="0">
            <a:spAutoFit/>
          </a:bodyPr>
          <a:lstStyle/>
          <a:p>
            <a:r>
              <a:rPr lang="en-US" dirty="0"/>
              <a:t>About 800 patients thought that it their quality of care was “Good” </a:t>
            </a:r>
          </a:p>
        </p:txBody>
      </p:sp>
      <p:cxnSp>
        <p:nvCxnSpPr>
          <p:cNvPr id="14" name="Straight Arrow Connector 13">
            <a:extLst>
              <a:ext uri="{FF2B5EF4-FFF2-40B4-BE49-F238E27FC236}">
                <a16:creationId xmlns:a16="http://schemas.microsoft.com/office/drawing/2014/main" id="{9BEA7EA2-E5FE-4371-8261-9FD8F02270D3}"/>
              </a:ext>
            </a:extLst>
          </p:cNvPr>
          <p:cNvCxnSpPr>
            <a:cxnSpLocks/>
          </p:cNvCxnSpPr>
          <p:nvPr/>
        </p:nvCxnSpPr>
        <p:spPr>
          <a:xfrm flipV="1">
            <a:off x="4512040" y="3838368"/>
            <a:ext cx="203617" cy="52465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1508F4F4-08C9-4818-9E30-01D69A5E85ED}"/>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Measuring quality of care from surveys</a:t>
            </a:r>
          </a:p>
        </p:txBody>
      </p:sp>
      <p:sp>
        <p:nvSpPr>
          <p:cNvPr id="21" name="TextBox 20">
            <a:extLst>
              <a:ext uri="{FF2B5EF4-FFF2-40B4-BE49-F238E27FC236}">
                <a16:creationId xmlns:a16="http://schemas.microsoft.com/office/drawing/2014/main" id="{D9E2ABAA-D61D-43A3-83D8-34DB7B32381D}"/>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Tree>
    <p:extLst>
      <p:ext uri="{BB962C8B-B14F-4D97-AF65-F5344CB8AC3E}">
        <p14:creationId xmlns:p14="http://schemas.microsoft.com/office/powerpoint/2010/main" val="22131865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2838B14-32D0-4B22-B06D-D86B856939A4}"/>
              </a:ext>
            </a:extLst>
          </p:cNvPr>
          <p:cNvPicPr>
            <a:picLocks noChangeAspect="1"/>
          </p:cNvPicPr>
          <p:nvPr/>
        </p:nvPicPr>
        <p:blipFill>
          <a:blip r:embed="rId2"/>
          <a:stretch>
            <a:fillRect/>
          </a:stretch>
        </p:blipFill>
        <p:spPr>
          <a:xfrm>
            <a:off x="1895835" y="1169138"/>
            <a:ext cx="8214324" cy="4897014"/>
          </a:xfrm>
          <a:prstGeom prst="rect">
            <a:avLst/>
          </a:prstGeom>
        </p:spPr>
      </p:pic>
      <p:sp>
        <p:nvSpPr>
          <p:cNvPr id="8" name="TextBox 7">
            <a:extLst>
              <a:ext uri="{FF2B5EF4-FFF2-40B4-BE49-F238E27FC236}">
                <a16:creationId xmlns:a16="http://schemas.microsoft.com/office/drawing/2014/main" id="{EA041E30-6929-4D05-B29E-FF27DF3BD085}"/>
              </a:ext>
            </a:extLst>
          </p:cNvPr>
          <p:cNvSpPr txBox="1"/>
          <p:nvPr/>
        </p:nvSpPr>
        <p:spPr>
          <a:xfrm>
            <a:off x="411780" y="4425810"/>
            <a:ext cx="1994989" cy="1477328"/>
          </a:xfrm>
          <a:prstGeom prst="rect">
            <a:avLst/>
          </a:prstGeom>
          <a:solidFill>
            <a:schemeClr val="bg1">
              <a:lumMod val="95000"/>
              <a:alpha val="76000"/>
            </a:schemeClr>
          </a:solidFill>
        </p:spPr>
        <p:txBody>
          <a:bodyPr wrap="square" rtlCol="0">
            <a:spAutoFit/>
          </a:bodyPr>
          <a:lstStyle/>
          <a:p>
            <a:r>
              <a:rPr lang="en-US" dirty="0"/>
              <a:t>About 10,000 patients said that their medicine instructions were poor</a:t>
            </a:r>
          </a:p>
        </p:txBody>
      </p:sp>
      <p:cxnSp>
        <p:nvCxnSpPr>
          <p:cNvPr id="11" name="Straight Arrow Connector 10">
            <a:extLst>
              <a:ext uri="{FF2B5EF4-FFF2-40B4-BE49-F238E27FC236}">
                <a16:creationId xmlns:a16="http://schemas.microsoft.com/office/drawing/2014/main" id="{C0A49665-07BA-49B6-BA7C-80A4B3F88BFA}"/>
              </a:ext>
            </a:extLst>
          </p:cNvPr>
          <p:cNvCxnSpPr>
            <a:cxnSpLocks/>
          </p:cNvCxnSpPr>
          <p:nvPr/>
        </p:nvCxnSpPr>
        <p:spPr>
          <a:xfrm flipV="1">
            <a:off x="2881534" y="4597879"/>
            <a:ext cx="1009290" cy="252070"/>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9" name="Title 1">
            <a:extLst>
              <a:ext uri="{FF2B5EF4-FFF2-40B4-BE49-F238E27FC236}">
                <a16:creationId xmlns:a16="http://schemas.microsoft.com/office/drawing/2014/main" id="{C2A69937-B4A5-4F44-B2D6-A8CC8E5076C4}"/>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Measuring quality of care from surveys</a:t>
            </a:r>
          </a:p>
        </p:txBody>
      </p:sp>
      <p:sp>
        <p:nvSpPr>
          <p:cNvPr id="20" name="TextBox 19">
            <a:extLst>
              <a:ext uri="{FF2B5EF4-FFF2-40B4-BE49-F238E27FC236}">
                <a16:creationId xmlns:a16="http://schemas.microsoft.com/office/drawing/2014/main" id="{E40BDB62-3098-4524-82C3-4C7437838714}"/>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Tree>
    <p:extLst>
      <p:ext uri="{BB962C8B-B14F-4D97-AF65-F5344CB8AC3E}">
        <p14:creationId xmlns:p14="http://schemas.microsoft.com/office/powerpoint/2010/main" val="14057356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E2838B14-32D0-4B22-B06D-D86B856939A4}"/>
              </a:ext>
            </a:extLst>
          </p:cNvPr>
          <p:cNvPicPr>
            <a:picLocks noChangeAspect="1"/>
          </p:cNvPicPr>
          <p:nvPr/>
        </p:nvPicPr>
        <p:blipFill>
          <a:blip r:embed="rId2"/>
          <a:stretch>
            <a:fillRect/>
          </a:stretch>
        </p:blipFill>
        <p:spPr>
          <a:xfrm>
            <a:off x="1895835" y="1169138"/>
            <a:ext cx="8214324" cy="4897014"/>
          </a:xfrm>
          <a:prstGeom prst="rect">
            <a:avLst/>
          </a:prstGeom>
        </p:spPr>
      </p:pic>
      <p:sp>
        <p:nvSpPr>
          <p:cNvPr id="8" name="TextBox 7">
            <a:extLst>
              <a:ext uri="{FF2B5EF4-FFF2-40B4-BE49-F238E27FC236}">
                <a16:creationId xmlns:a16="http://schemas.microsoft.com/office/drawing/2014/main" id="{EA041E30-6929-4D05-B29E-FF27DF3BD085}"/>
              </a:ext>
            </a:extLst>
          </p:cNvPr>
          <p:cNvSpPr txBox="1"/>
          <p:nvPr/>
        </p:nvSpPr>
        <p:spPr>
          <a:xfrm>
            <a:off x="4960190" y="3373080"/>
            <a:ext cx="2760452" cy="923330"/>
          </a:xfrm>
          <a:prstGeom prst="rect">
            <a:avLst/>
          </a:prstGeom>
          <a:solidFill>
            <a:schemeClr val="bg1">
              <a:lumMod val="95000"/>
              <a:alpha val="76000"/>
            </a:schemeClr>
          </a:solidFill>
        </p:spPr>
        <p:txBody>
          <a:bodyPr wrap="square" rtlCol="0">
            <a:spAutoFit/>
          </a:bodyPr>
          <a:lstStyle/>
          <a:p>
            <a:r>
              <a:rPr lang="en-US" dirty="0"/>
              <a:t>Almost all patients (~30,000) said that the physician was friendly</a:t>
            </a:r>
          </a:p>
        </p:txBody>
      </p:sp>
      <p:cxnSp>
        <p:nvCxnSpPr>
          <p:cNvPr id="11" name="Straight Arrow Connector 10">
            <a:extLst>
              <a:ext uri="{FF2B5EF4-FFF2-40B4-BE49-F238E27FC236}">
                <a16:creationId xmlns:a16="http://schemas.microsoft.com/office/drawing/2014/main" id="{C0A49665-07BA-49B6-BA7C-80A4B3F88BFA}"/>
              </a:ext>
            </a:extLst>
          </p:cNvPr>
          <p:cNvCxnSpPr>
            <a:cxnSpLocks/>
          </p:cNvCxnSpPr>
          <p:nvPr/>
        </p:nvCxnSpPr>
        <p:spPr>
          <a:xfrm flipV="1">
            <a:off x="7117104" y="2722015"/>
            <a:ext cx="517273" cy="58674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481A50C9-EAE4-497C-9DDE-4FB8A39830E7}"/>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Measuring quality of care from surveys</a:t>
            </a:r>
          </a:p>
        </p:txBody>
      </p:sp>
      <p:sp>
        <p:nvSpPr>
          <p:cNvPr id="12" name="TextBox 11">
            <a:extLst>
              <a:ext uri="{FF2B5EF4-FFF2-40B4-BE49-F238E27FC236}">
                <a16:creationId xmlns:a16="http://schemas.microsoft.com/office/drawing/2014/main" id="{64A47D5C-6E13-4658-879F-A55382DB3604}"/>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Tree>
    <p:extLst>
      <p:ext uri="{BB962C8B-B14F-4D97-AF65-F5344CB8AC3E}">
        <p14:creationId xmlns:p14="http://schemas.microsoft.com/office/powerpoint/2010/main" val="28054495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8020665" cy="1497398"/>
          </a:xfrm>
        </p:spPr>
        <p:txBody>
          <a:bodyPr>
            <a:normAutofit/>
          </a:bodyPr>
          <a:lstStyle/>
          <a:p>
            <a:pPr lvl="1"/>
            <a:r>
              <a:rPr lang="en-US" sz="3400" b="1" kern="1200">
                <a:solidFill>
                  <a:schemeClr val="tx1">
                    <a:lumMod val="65000"/>
                    <a:lumOff val="35000"/>
                  </a:schemeClr>
                </a:solidFill>
                <a:latin typeface="+mj-lt"/>
                <a:ea typeface="+mj-ea"/>
                <a:cs typeface="+mj-cs"/>
              </a:rPr>
              <a:t>Recap: </a:t>
            </a:r>
            <a:r>
              <a:rPr lang="en-US" sz="3400" b="1" kern="1200" dirty="0">
                <a:solidFill>
                  <a:schemeClr val="tx1">
                    <a:lumMod val="65000"/>
                    <a:lumOff val="35000"/>
                  </a:schemeClr>
                </a:solidFill>
                <a:latin typeface="+mj-lt"/>
                <a:ea typeface="+mj-ea"/>
                <a:cs typeface="+mj-cs"/>
              </a:rPr>
              <a:t>How should overall quality of care be measured?</a:t>
            </a:r>
          </a:p>
        </p:txBody>
      </p:sp>
      <p:sp>
        <p:nvSpPr>
          <p:cNvPr id="5" name="Rectangle 4">
            <a:extLst>
              <a:ext uri="{FF2B5EF4-FFF2-40B4-BE49-F238E27FC236}">
                <a16:creationId xmlns:a16="http://schemas.microsoft.com/office/drawing/2014/main" id="{1CE5CF00-2AF0-41FF-A876-FCD8C127FCE3}"/>
              </a:ext>
            </a:extLst>
          </p:cNvPr>
          <p:cNvSpPr/>
          <p:nvPr/>
        </p:nvSpPr>
        <p:spPr>
          <a:xfrm>
            <a:off x="838200" y="1382442"/>
            <a:ext cx="10209551" cy="985911"/>
          </a:xfrm>
          <a:prstGeom prst="rect">
            <a:avLst/>
          </a:prstGeom>
        </p:spPr>
        <p:txBody>
          <a:bodyPr wrap="square">
            <a:spAutoFit/>
          </a:bodyPr>
          <a:lstStyle/>
          <a:p>
            <a:pPr marL="342900" indent="-285750">
              <a:lnSpc>
                <a:spcPct val="90000"/>
              </a:lnSpc>
              <a:spcBef>
                <a:spcPts val="1000"/>
              </a:spcBef>
              <a:buClr>
                <a:schemeClr val="accent2">
                  <a:lumMod val="75000"/>
                </a:schemeClr>
              </a:buClr>
              <a:buFont typeface="Arial" panose="020B0604020202020204" pitchFamily="34" charset="0"/>
              <a:buChar char="•"/>
            </a:pPr>
            <a:endParaRPr lang="en-US" sz="1600" dirty="0"/>
          </a:p>
          <a:p>
            <a:pPr marL="285750" indent="-228600">
              <a:lnSpc>
                <a:spcPct val="90000"/>
              </a:lnSpc>
              <a:spcBef>
                <a:spcPts val="1000"/>
              </a:spcBef>
              <a:buClr>
                <a:schemeClr val="accent2">
                  <a:lumMod val="75000"/>
                </a:schemeClr>
              </a:buClr>
              <a:buFont typeface="Wingdings" panose="05000000000000000000" pitchFamily="2" charset="2"/>
              <a:buChar char="§"/>
            </a:pPr>
            <a:endParaRPr lang="en-US" sz="1600" dirty="0"/>
          </a:p>
          <a:p>
            <a:pPr marL="685800" lvl="1" indent="-228600">
              <a:lnSpc>
                <a:spcPct val="90000"/>
              </a:lnSpc>
              <a:spcBef>
                <a:spcPts val="1000"/>
              </a:spcBef>
              <a:buClr>
                <a:schemeClr val="accent2">
                  <a:lumMod val="75000"/>
                </a:schemeClr>
              </a:buClr>
              <a:buFont typeface="Wingdings" panose="05000000000000000000" pitchFamily="2" charset="2"/>
              <a:buChar char="§"/>
            </a:pPr>
            <a:endParaRPr lang="en-US" sz="1400" dirty="0"/>
          </a:p>
        </p:txBody>
      </p:sp>
      <p:sp>
        <p:nvSpPr>
          <p:cNvPr id="7" name="TextBox 6">
            <a:extLst>
              <a:ext uri="{FF2B5EF4-FFF2-40B4-BE49-F238E27FC236}">
                <a16:creationId xmlns:a16="http://schemas.microsoft.com/office/drawing/2014/main" id="{8305D8BC-6392-46C2-82C6-E830D5815B87}"/>
              </a:ext>
            </a:extLst>
          </p:cNvPr>
          <p:cNvSpPr txBox="1"/>
          <p:nvPr/>
        </p:nvSpPr>
        <p:spPr>
          <a:xfrm>
            <a:off x="9137996" y="450204"/>
            <a:ext cx="2215804" cy="461665"/>
          </a:xfrm>
          <a:prstGeom prst="rect">
            <a:avLst/>
          </a:prstGeom>
          <a:noFill/>
        </p:spPr>
        <p:txBody>
          <a:bodyPr wrap="square" rtlCol="0">
            <a:spAutoFit/>
          </a:bodyPr>
          <a:lstStyle/>
          <a:p>
            <a:r>
              <a:rPr lang="en-US" sz="2400" b="1" dirty="0">
                <a:solidFill>
                  <a:schemeClr val="bg1"/>
                </a:solidFill>
              </a:rPr>
              <a:t>Quality of Care</a:t>
            </a:r>
          </a:p>
        </p:txBody>
      </p:sp>
      <p:sp>
        <p:nvSpPr>
          <p:cNvPr id="3" name="TextBox 2">
            <a:extLst>
              <a:ext uri="{FF2B5EF4-FFF2-40B4-BE49-F238E27FC236}">
                <a16:creationId xmlns:a16="http://schemas.microsoft.com/office/drawing/2014/main" id="{E3AE4544-E7F1-48DA-8D83-F76AD33B3FE7}"/>
              </a:ext>
            </a:extLst>
          </p:cNvPr>
          <p:cNvSpPr txBox="1"/>
          <p:nvPr/>
        </p:nvSpPr>
        <p:spPr>
          <a:xfrm>
            <a:off x="838200" y="1818968"/>
            <a:ext cx="10970342" cy="2862322"/>
          </a:xfrm>
          <a:prstGeom prst="rect">
            <a:avLst/>
          </a:prstGeom>
          <a:noFill/>
        </p:spPr>
        <p:txBody>
          <a:bodyPr wrap="square" rtlCol="0">
            <a:spAutoFit/>
          </a:bodyPr>
          <a:lstStyle/>
          <a:p>
            <a:pPr>
              <a:buClr>
                <a:schemeClr val="accent2"/>
              </a:buClr>
            </a:pPr>
            <a:r>
              <a:rPr lang="en-US" dirty="0"/>
              <a:t>Should we just use the “Quality of Care” Top Box rate?  </a:t>
            </a:r>
          </a:p>
          <a:p>
            <a:pPr>
              <a:buClr>
                <a:schemeClr val="accent2"/>
              </a:buClr>
            </a:pPr>
            <a:endParaRPr lang="en-US" dirty="0"/>
          </a:p>
          <a:p>
            <a:pPr marL="742950" lvl="1" indent="-285750">
              <a:buClr>
                <a:schemeClr val="accent2"/>
              </a:buClr>
              <a:buFont typeface="Wingdings" panose="05000000000000000000" pitchFamily="2" charset="2"/>
              <a:buChar char="§"/>
            </a:pPr>
            <a:r>
              <a:rPr lang="en-US" dirty="0"/>
              <a:t>How can we distinguish between cause and effect?.  For instance, was having an unfriendly nurse the reason why a patient rated “Quality of Care” as 2 out of 4, or were they treated the same as other patients but upset due to a bad medical outcome and thus gave a low “friendliness” rating?</a:t>
            </a:r>
          </a:p>
          <a:p>
            <a:pPr marL="742950" lvl="1" indent="-285750">
              <a:buClr>
                <a:schemeClr val="accent2"/>
              </a:buClr>
              <a:buFont typeface="Wingdings" panose="05000000000000000000" pitchFamily="2" charset="2"/>
              <a:buChar char="§"/>
            </a:pPr>
            <a:endParaRPr lang="en-US" dirty="0"/>
          </a:p>
          <a:p>
            <a:pPr marL="742950" lvl="1" indent="-285750">
              <a:buClr>
                <a:schemeClr val="accent2"/>
              </a:buClr>
              <a:buFont typeface="Wingdings" panose="05000000000000000000" pitchFamily="2" charset="2"/>
              <a:buChar char="§"/>
            </a:pPr>
            <a:r>
              <a:rPr lang="en-US" dirty="0"/>
              <a:t>How do patients interpret the overall “Quality of Care” rating?  If some patients interpret this to mean strictly the ‘comfort’ of the experience and other patients the amount of medical attention, number of x-rays given, time spent with the physician, or other arbitrary factors, then how can this be a reliable source?</a:t>
            </a:r>
          </a:p>
          <a:p>
            <a:pPr marL="285750" indent="-285750">
              <a:buClr>
                <a:schemeClr val="accent2"/>
              </a:buClr>
              <a:buFont typeface="Wingdings" panose="05000000000000000000" pitchFamily="2" charset="2"/>
              <a:buChar char="§"/>
            </a:pPr>
            <a:endParaRPr lang="en-US" dirty="0"/>
          </a:p>
        </p:txBody>
      </p:sp>
    </p:spTree>
    <p:extLst>
      <p:ext uri="{BB962C8B-B14F-4D97-AF65-F5344CB8AC3E}">
        <p14:creationId xmlns:p14="http://schemas.microsoft.com/office/powerpoint/2010/main" val="11758919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5DA8-B7A7-452C-9369-4E03877D855D}"/>
              </a:ext>
            </a:extLst>
          </p:cNvPr>
          <p:cNvSpPr>
            <a:spLocks noGrp="1"/>
          </p:cNvSpPr>
          <p:nvPr>
            <p:ph type="ctrTitle"/>
          </p:nvPr>
        </p:nvSpPr>
        <p:spPr/>
        <p:txBody>
          <a:bodyPr/>
          <a:lstStyle/>
          <a:p>
            <a:r>
              <a:rPr lang="en-US" dirty="0"/>
              <a:t>Client Benchmarking</a:t>
            </a:r>
          </a:p>
        </p:txBody>
      </p:sp>
      <p:sp>
        <p:nvSpPr>
          <p:cNvPr id="3" name="Subtitle 2">
            <a:extLst>
              <a:ext uri="{FF2B5EF4-FFF2-40B4-BE49-F238E27FC236}">
                <a16:creationId xmlns:a16="http://schemas.microsoft.com/office/drawing/2014/main" id="{E16C1304-AFF5-4D8D-8485-40D43BFB23AD}"/>
              </a:ext>
            </a:extLst>
          </p:cNvPr>
          <p:cNvSpPr>
            <a:spLocks noGrp="1"/>
          </p:cNvSpPr>
          <p:nvPr>
            <p:ph type="subTitle" idx="1"/>
          </p:nvPr>
        </p:nvSpPr>
        <p:spPr/>
        <p:txBody>
          <a:bodyPr/>
          <a:lstStyle/>
          <a:p>
            <a:r>
              <a:rPr lang="en-US" dirty="0"/>
              <a:t>Findings Opportunities for Improvement of Quality of Care</a:t>
            </a:r>
          </a:p>
        </p:txBody>
      </p:sp>
    </p:spTree>
    <p:extLst>
      <p:ext uri="{BB962C8B-B14F-4D97-AF65-F5344CB8AC3E}">
        <p14:creationId xmlns:p14="http://schemas.microsoft.com/office/powerpoint/2010/main" val="8552294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Compare a given client to a benchmark</a:t>
            </a:r>
          </a:p>
        </p:txBody>
      </p:sp>
      <p:sp>
        <p:nvSpPr>
          <p:cNvPr id="7" name="TextBox 6">
            <a:extLst>
              <a:ext uri="{FF2B5EF4-FFF2-40B4-BE49-F238E27FC236}">
                <a16:creationId xmlns:a16="http://schemas.microsoft.com/office/drawing/2014/main" id="{86722436-3EFA-4D72-BA4E-0B6A998B6DB1}"/>
              </a:ext>
            </a:extLst>
          </p:cNvPr>
          <p:cNvSpPr txBox="1"/>
          <p:nvPr/>
        </p:nvSpPr>
        <p:spPr>
          <a:xfrm>
            <a:off x="9187132" y="450204"/>
            <a:ext cx="2215804" cy="461665"/>
          </a:xfrm>
          <a:prstGeom prst="rect">
            <a:avLst/>
          </a:prstGeom>
          <a:noFill/>
        </p:spPr>
        <p:txBody>
          <a:bodyPr wrap="square" rtlCol="0">
            <a:spAutoFit/>
          </a:bodyPr>
          <a:lstStyle/>
          <a:p>
            <a:r>
              <a:rPr lang="en-US" sz="2400" b="1" dirty="0">
                <a:solidFill>
                  <a:schemeClr val="bg1"/>
                </a:solidFill>
              </a:rPr>
              <a:t>Benchmarking</a:t>
            </a:r>
          </a:p>
        </p:txBody>
      </p:sp>
      <p:sp>
        <p:nvSpPr>
          <p:cNvPr id="3" name="TextBox 2">
            <a:extLst>
              <a:ext uri="{FF2B5EF4-FFF2-40B4-BE49-F238E27FC236}">
                <a16:creationId xmlns:a16="http://schemas.microsoft.com/office/drawing/2014/main" id="{CD029807-1FA2-4C17-BDA3-212CCFC2B0B1}"/>
              </a:ext>
            </a:extLst>
          </p:cNvPr>
          <p:cNvSpPr txBox="1"/>
          <p:nvPr/>
        </p:nvSpPr>
        <p:spPr>
          <a:xfrm>
            <a:off x="1785668" y="1509623"/>
            <a:ext cx="7401464" cy="3693319"/>
          </a:xfrm>
          <a:prstGeom prst="rect">
            <a:avLst/>
          </a:prstGeom>
          <a:noFill/>
        </p:spPr>
        <p:txBody>
          <a:bodyPr wrap="square" rtlCol="0">
            <a:spAutoFit/>
          </a:bodyPr>
          <a:lstStyle/>
          <a:p>
            <a:r>
              <a:rPr lang="en-US" dirty="0">
                <a:solidFill>
                  <a:schemeClr val="accent2"/>
                </a:solidFill>
              </a:rPr>
              <a:t>Step 1: </a:t>
            </a:r>
            <a:r>
              <a:rPr lang="en-US" dirty="0"/>
              <a:t>Create an industry benchmark.  This can be as simple as an average of the top 10 clients or as complex as statistical measure including health risk score, the number of patients the sample, and other factors.</a:t>
            </a:r>
          </a:p>
          <a:p>
            <a:endParaRPr lang="en-US" dirty="0">
              <a:solidFill>
                <a:schemeClr val="accent2"/>
              </a:solidFill>
            </a:endParaRPr>
          </a:p>
          <a:p>
            <a:r>
              <a:rPr lang="en-US" dirty="0">
                <a:solidFill>
                  <a:schemeClr val="accent2"/>
                </a:solidFill>
              </a:rPr>
              <a:t>Step 2: </a:t>
            </a:r>
            <a:r>
              <a:rPr lang="en-US" dirty="0"/>
              <a:t>For any split of the data, compare a given client to this benchmark</a:t>
            </a:r>
          </a:p>
          <a:p>
            <a:endParaRPr lang="en-US" dirty="0">
              <a:solidFill>
                <a:schemeClr val="accent2"/>
              </a:solidFill>
            </a:endParaRPr>
          </a:p>
          <a:p>
            <a:r>
              <a:rPr lang="en-US" dirty="0">
                <a:solidFill>
                  <a:schemeClr val="accent2"/>
                </a:solidFill>
              </a:rPr>
              <a:t>Step 3: </a:t>
            </a:r>
            <a:r>
              <a:rPr lang="en-US" dirty="0"/>
              <a:t>If there is significant differences, such as if the client is behind in a certain area, start looking into why this might be the case</a:t>
            </a:r>
          </a:p>
          <a:p>
            <a:endParaRPr lang="en-US" dirty="0">
              <a:solidFill>
                <a:schemeClr val="accent2"/>
              </a:solidFill>
            </a:endParaRPr>
          </a:p>
          <a:p>
            <a:r>
              <a:rPr lang="en-US" dirty="0">
                <a:solidFill>
                  <a:schemeClr val="accent2"/>
                </a:solidFill>
              </a:rPr>
              <a:t>Step 4: </a:t>
            </a:r>
            <a:r>
              <a:rPr lang="en-US" dirty="0"/>
              <a:t>Take action.  Connect the low-performing client with resources from the top performers to answer the question “What is are they doing differently than we are”?</a:t>
            </a:r>
          </a:p>
          <a:p>
            <a:endParaRPr lang="en-US" dirty="0"/>
          </a:p>
        </p:txBody>
      </p:sp>
    </p:spTree>
    <p:extLst>
      <p:ext uri="{BB962C8B-B14F-4D97-AF65-F5344CB8AC3E}">
        <p14:creationId xmlns:p14="http://schemas.microsoft.com/office/powerpoint/2010/main" val="475174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69"/>
            <a:ext cx="8031796" cy="975079"/>
          </a:xfrm>
        </p:spPr>
        <p:txBody>
          <a:bodyPr>
            <a:normAutofit fontScale="90000"/>
          </a:bodyPr>
          <a:lstStyle/>
          <a:p>
            <a:pPr lvl="1"/>
            <a:r>
              <a:rPr lang="en-US" sz="3400" b="1" kern="1200" dirty="0">
                <a:solidFill>
                  <a:schemeClr val="tx1">
                    <a:lumMod val="65000"/>
                    <a:lumOff val="35000"/>
                  </a:schemeClr>
                </a:solidFill>
                <a:latin typeface="+mj-lt"/>
                <a:ea typeface="+mj-ea"/>
                <a:cs typeface="+mj-cs"/>
              </a:rPr>
              <a:t>Example: Patients over the age of 40 for Hospital ABC</a:t>
            </a:r>
          </a:p>
        </p:txBody>
      </p:sp>
      <p:pic>
        <p:nvPicPr>
          <p:cNvPr id="6" name="Picture 5">
            <a:extLst>
              <a:ext uri="{FF2B5EF4-FFF2-40B4-BE49-F238E27FC236}">
                <a16:creationId xmlns:a16="http://schemas.microsoft.com/office/drawing/2014/main" id="{74B71F5A-1A04-47EA-8964-3379337A388D}"/>
              </a:ext>
            </a:extLst>
          </p:cNvPr>
          <p:cNvPicPr>
            <a:picLocks noChangeAspect="1"/>
          </p:cNvPicPr>
          <p:nvPr/>
        </p:nvPicPr>
        <p:blipFill>
          <a:blip r:embed="rId2"/>
          <a:stretch>
            <a:fillRect/>
          </a:stretch>
        </p:blipFill>
        <p:spPr>
          <a:xfrm>
            <a:off x="741871" y="1509623"/>
            <a:ext cx="10611929" cy="4572089"/>
          </a:xfrm>
          <a:prstGeom prst="rect">
            <a:avLst/>
          </a:prstGeom>
        </p:spPr>
      </p:pic>
      <p:sp>
        <p:nvSpPr>
          <p:cNvPr id="10" name="Rectangle 9">
            <a:extLst>
              <a:ext uri="{FF2B5EF4-FFF2-40B4-BE49-F238E27FC236}">
                <a16:creationId xmlns:a16="http://schemas.microsoft.com/office/drawing/2014/main" id="{6FC14873-58B0-4B3C-9233-4EB68A0284E1}"/>
              </a:ext>
            </a:extLst>
          </p:cNvPr>
          <p:cNvSpPr/>
          <p:nvPr/>
        </p:nvSpPr>
        <p:spPr>
          <a:xfrm>
            <a:off x="10649764" y="3533457"/>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7E0A772-D704-49A9-BD43-D16A366113FD}"/>
              </a:ext>
            </a:extLst>
          </p:cNvPr>
          <p:cNvSpPr/>
          <p:nvPr/>
        </p:nvSpPr>
        <p:spPr>
          <a:xfrm>
            <a:off x="10082635" y="2655757"/>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D75FBE4-50EE-4FB2-9C78-AE935F7AAB46}"/>
              </a:ext>
            </a:extLst>
          </p:cNvPr>
          <p:cNvSpPr/>
          <p:nvPr/>
        </p:nvSpPr>
        <p:spPr>
          <a:xfrm>
            <a:off x="10138216" y="3127947"/>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59040C37-5331-4DE8-98DE-29CC93881016}"/>
              </a:ext>
            </a:extLst>
          </p:cNvPr>
          <p:cNvSpPr/>
          <p:nvPr/>
        </p:nvSpPr>
        <p:spPr>
          <a:xfrm>
            <a:off x="9230189" y="2213548"/>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0202824-7920-4894-A87B-8536FF97FA96}"/>
              </a:ext>
            </a:extLst>
          </p:cNvPr>
          <p:cNvSpPr/>
          <p:nvPr/>
        </p:nvSpPr>
        <p:spPr>
          <a:xfrm>
            <a:off x="10514852" y="3964898"/>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D35212A-B85D-44D1-8B7A-306C32C1618D}"/>
              </a:ext>
            </a:extLst>
          </p:cNvPr>
          <p:cNvSpPr/>
          <p:nvPr/>
        </p:nvSpPr>
        <p:spPr>
          <a:xfrm>
            <a:off x="10092497" y="4422190"/>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F4921BFD-C824-45C2-94B0-7C693494C725}"/>
              </a:ext>
            </a:extLst>
          </p:cNvPr>
          <p:cNvSpPr/>
          <p:nvPr/>
        </p:nvSpPr>
        <p:spPr>
          <a:xfrm>
            <a:off x="9660413" y="4787468"/>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C9D0513D-E1A2-4356-B61F-6CB43C62CCB9}"/>
              </a:ext>
            </a:extLst>
          </p:cNvPr>
          <p:cNvSpPr/>
          <p:nvPr/>
        </p:nvSpPr>
        <p:spPr>
          <a:xfrm>
            <a:off x="9900255" y="5291528"/>
            <a:ext cx="45719" cy="365278"/>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73D7467-4C6F-4608-85A8-48E4AEC0084A}"/>
              </a:ext>
            </a:extLst>
          </p:cNvPr>
          <p:cNvSpPr/>
          <p:nvPr/>
        </p:nvSpPr>
        <p:spPr>
          <a:xfrm>
            <a:off x="4736892" y="1811053"/>
            <a:ext cx="187377" cy="185396"/>
          </a:xfrm>
          <a:prstGeom prst="rect">
            <a:avLst/>
          </a:prstGeom>
          <a:solidFill>
            <a:srgbClr val="35EB3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F971526-DE29-4DB2-9E5E-AEB2E12BEC02}"/>
              </a:ext>
            </a:extLst>
          </p:cNvPr>
          <p:cNvSpPr txBox="1"/>
          <p:nvPr/>
        </p:nvSpPr>
        <p:spPr>
          <a:xfrm>
            <a:off x="2241779" y="1772946"/>
            <a:ext cx="2764188" cy="261610"/>
          </a:xfrm>
          <a:prstGeom prst="rect">
            <a:avLst/>
          </a:prstGeom>
          <a:noFill/>
        </p:spPr>
        <p:txBody>
          <a:bodyPr wrap="square" rtlCol="0">
            <a:spAutoFit/>
          </a:bodyPr>
          <a:lstStyle/>
          <a:p>
            <a:r>
              <a:rPr lang="en-US" sz="1100" b="1" dirty="0"/>
              <a:t>Industry Benchmark for patients over 40</a:t>
            </a:r>
          </a:p>
        </p:txBody>
      </p:sp>
      <p:sp>
        <p:nvSpPr>
          <p:cNvPr id="24" name="TextBox 23">
            <a:extLst>
              <a:ext uri="{FF2B5EF4-FFF2-40B4-BE49-F238E27FC236}">
                <a16:creationId xmlns:a16="http://schemas.microsoft.com/office/drawing/2014/main" id="{14883589-E018-42D2-B2CA-5EE9B0A61201}"/>
              </a:ext>
            </a:extLst>
          </p:cNvPr>
          <p:cNvSpPr txBox="1"/>
          <p:nvPr/>
        </p:nvSpPr>
        <p:spPr>
          <a:xfrm>
            <a:off x="5068470" y="3084407"/>
            <a:ext cx="2760452" cy="1477328"/>
          </a:xfrm>
          <a:prstGeom prst="rect">
            <a:avLst/>
          </a:prstGeom>
          <a:solidFill>
            <a:schemeClr val="bg1">
              <a:lumMod val="95000"/>
              <a:alpha val="76000"/>
            </a:schemeClr>
          </a:solidFill>
        </p:spPr>
        <p:txBody>
          <a:bodyPr wrap="square" rtlCol="0">
            <a:spAutoFit/>
          </a:bodyPr>
          <a:lstStyle/>
          <a:p>
            <a:r>
              <a:rPr lang="en-US" dirty="0"/>
              <a:t>This particular hospital is underperforming at giving providing good medicine instructions for patients over the age of 40 </a:t>
            </a:r>
          </a:p>
        </p:txBody>
      </p:sp>
      <p:cxnSp>
        <p:nvCxnSpPr>
          <p:cNvPr id="25" name="Straight Arrow Connector 24">
            <a:extLst>
              <a:ext uri="{FF2B5EF4-FFF2-40B4-BE49-F238E27FC236}">
                <a16:creationId xmlns:a16="http://schemas.microsoft.com/office/drawing/2014/main" id="{41F5DC3C-F405-4037-BA70-A63A96957870}"/>
              </a:ext>
            </a:extLst>
          </p:cNvPr>
          <p:cNvCxnSpPr>
            <a:cxnSpLocks/>
          </p:cNvCxnSpPr>
          <p:nvPr/>
        </p:nvCxnSpPr>
        <p:spPr>
          <a:xfrm>
            <a:off x="7926332" y="4416555"/>
            <a:ext cx="943664" cy="163918"/>
          </a:xfrm>
          <a:prstGeom prst="straightConnector1">
            <a:avLst/>
          </a:prstGeom>
          <a:ln w="762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C347307C-6D9C-4749-9E59-849378577AC3}"/>
              </a:ext>
            </a:extLst>
          </p:cNvPr>
          <p:cNvSpPr txBox="1"/>
          <p:nvPr/>
        </p:nvSpPr>
        <p:spPr>
          <a:xfrm>
            <a:off x="9187132" y="450204"/>
            <a:ext cx="2215804" cy="461665"/>
          </a:xfrm>
          <a:prstGeom prst="rect">
            <a:avLst/>
          </a:prstGeom>
          <a:noFill/>
        </p:spPr>
        <p:txBody>
          <a:bodyPr wrap="square" rtlCol="0">
            <a:spAutoFit/>
          </a:bodyPr>
          <a:lstStyle/>
          <a:p>
            <a:r>
              <a:rPr lang="en-US" sz="2400" b="1" dirty="0">
                <a:solidFill>
                  <a:schemeClr val="bg1"/>
                </a:solidFill>
              </a:rPr>
              <a:t>Benchmarking</a:t>
            </a:r>
          </a:p>
        </p:txBody>
      </p:sp>
    </p:spTree>
    <p:extLst>
      <p:ext uri="{BB962C8B-B14F-4D97-AF65-F5344CB8AC3E}">
        <p14:creationId xmlns:p14="http://schemas.microsoft.com/office/powerpoint/2010/main" val="2685759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C5DA8-B7A7-452C-9369-4E03877D855D}"/>
              </a:ext>
            </a:extLst>
          </p:cNvPr>
          <p:cNvSpPr>
            <a:spLocks noGrp="1"/>
          </p:cNvSpPr>
          <p:nvPr>
            <p:ph type="ctrTitle"/>
          </p:nvPr>
        </p:nvSpPr>
        <p:spPr/>
        <p:txBody>
          <a:bodyPr/>
          <a:lstStyle/>
          <a:p>
            <a:r>
              <a:rPr lang="en-US" dirty="0"/>
              <a:t>Future Considerations</a:t>
            </a:r>
          </a:p>
        </p:txBody>
      </p:sp>
      <p:sp>
        <p:nvSpPr>
          <p:cNvPr id="3" name="Subtitle 2">
            <a:extLst>
              <a:ext uri="{FF2B5EF4-FFF2-40B4-BE49-F238E27FC236}">
                <a16:creationId xmlns:a16="http://schemas.microsoft.com/office/drawing/2014/main" id="{E16C1304-AFF5-4D8D-8485-40D43BFB23AD}"/>
              </a:ext>
            </a:extLst>
          </p:cNvPr>
          <p:cNvSpPr>
            <a:spLocks noGrp="1"/>
          </p:cNvSpPr>
          <p:nvPr>
            <p:ph type="subTitle" idx="1"/>
          </p:nvPr>
        </p:nvSpPr>
        <p:spPr/>
        <p:txBody>
          <a:bodyPr/>
          <a:lstStyle/>
          <a:p>
            <a:r>
              <a:rPr lang="en-US" dirty="0"/>
              <a:t>Additional data sources</a:t>
            </a:r>
          </a:p>
        </p:txBody>
      </p:sp>
    </p:spTree>
    <p:extLst>
      <p:ext uri="{BB962C8B-B14F-4D97-AF65-F5344CB8AC3E}">
        <p14:creationId xmlns:p14="http://schemas.microsoft.com/office/powerpoint/2010/main" val="10209798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ECEF7-9DCA-4532-84B6-0FBE41126061}"/>
              </a:ext>
            </a:extLst>
          </p:cNvPr>
          <p:cNvSpPr>
            <a:spLocks noGrp="1"/>
          </p:cNvSpPr>
          <p:nvPr>
            <p:ph type="title"/>
          </p:nvPr>
        </p:nvSpPr>
        <p:spPr>
          <a:xfrm>
            <a:off x="838200" y="321570"/>
            <a:ext cx="10515600" cy="718934"/>
          </a:xfrm>
        </p:spPr>
        <p:txBody>
          <a:bodyPr>
            <a:normAutofit/>
          </a:bodyPr>
          <a:lstStyle/>
          <a:p>
            <a:pPr lvl="1"/>
            <a:r>
              <a:rPr lang="en-US" sz="3400" b="1" kern="1200" dirty="0">
                <a:solidFill>
                  <a:schemeClr val="tx1">
                    <a:lumMod val="65000"/>
                    <a:lumOff val="35000"/>
                  </a:schemeClr>
                </a:solidFill>
                <a:latin typeface="+mj-lt"/>
                <a:ea typeface="+mj-ea"/>
                <a:cs typeface="+mj-cs"/>
              </a:rPr>
              <a:t>Future Considerations</a:t>
            </a:r>
          </a:p>
        </p:txBody>
      </p:sp>
      <p:sp>
        <p:nvSpPr>
          <p:cNvPr id="7" name="TextBox 6">
            <a:extLst>
              <a:ext uri="{FF2B5EF4-FFF2-40B4-BE49-F238E27FC236}">
                <a16:creationId xmlns:a16="http://schemas.microsoft.com/office/drawing/2014/main" id="{86722436-3EFA-4D72-BA4E-0B6A998B6DB1}"/>
              </a:ext>
            </a:extLst>
          </p:cNvPr>
          <p:cNvSpPr txBox="1"/>
          <p:nvPr/>
        </p:nvSpPr>
        <p:spPr>
          <a:xfrm>
            <a:off x="9187132" y="321570"/>
            <a:ext cx="2215804" cy="830997"/>
          </a:xfrm>
          <a:prstGeom prst="rect">
            <a:avLst/>
          </a:prstGeom>
          <a:noFill/>
        </p:spPr>
        <p:txBody>
          <a:bodyPr wrap="square" rtlCol="0">
            <a:spAutoFit/>
          </a:bodyPr>
          <a:lstStyle/>
          <a:p>
            <a:r>
              <a:rPr lang="en-US" sz="2400" b="1" dirty="0">
                <a:solidFill>
                  <a:schemeClr val="bg1"/>
                </a:solidFill>
              </a:rPr>
              <a:t>Future Considerations</a:t>
            </a:r>
          </a:p>
        </p:txBody>
      </p:sp>
      <p:sp>
        <p:nvSpPr>
          <p:cNvPr id="3" name="TextBox 2">
            <a:extLst>
              <a:ext uri="{FF2B5EF4-FFF2-40B4-BE49-F238E27FC236}">
                <a16:creationId xmlns:a16="http://schemas.microsoft.com/office/drawing/2014/main" id="{CD029807-1FA2-4C17-BDA3-212CCFC2B0B1}"/>
              </a:ext>
            </a:extLst>
          </p:cNvPr>
          <p:cNvSpPr txBox="1"/>
          <p:nvPr/>
        </p:nvSpPr>
        <p:spPr>
          <a:xfrm>
            <a:off x="1785668" y="1509623"/>
            <a:ext cx="7401464" cy="4247317"/>
          </a:xfrm>
          <a:prstGeom prst="rect">
            <a:avLst/>
          </a:prstGeom>
          <a:noFill/>
        </p:spPr>
        <p:txBody>
          <a:bodyPr wrap="square" rtlCol="0">
            <a:spAutoFit/>
          </a:bodyPr>
          <a:lstStyle/>
          <a:p>
            <a:pPr>
              <a:buClr>
                <a:schemeClr val="accent2"/>
              </a:buClr>
            </a:pPr>
            <a:r>
              <a:rPr lang="en-US" dirty="0"/>
              <a:t>What additional data sources would be add to this analysis?</a:t>
            </a:r>
          </a:p>
          <a:p>
            <a:pPr>
              <a:buClr>
                <a:schemeClr val="accent2"/>
              </a:buClr>
            </a:pPr>
            <a:endParaRPr lang="en-US" dirty="0"/>
          </a:p>
          <a:p>
            <a:pPr marL="742950" lvl="1" indent="-285750">
              <a:buClr>
                <a:schemeClr val="accent2"/>
              </a:buClr>
              <a:buFont typeface="Wingdings" panose="05000000000000000000" pitchFamily="2" charset="2"/>
              <a:buChar char="§"/>
            </a:pPr>
            <a:r>
              <a:rPr lang="en-US" b="1" dirty="0"/>
              <a:t>Time spent on survey.  </a:t>
            </a:r>
            <a:r>
              <a:rPr lang="en-US" dirty="0"/>
              <a:t>This is a way of measuring “survey fatigue” which is the level of interest and authenticity which the patient exhibits when filling out the survey.  This can be used a to assign credibility to survey results</a:t>
            </a:r>
          </a:p>
          <a:p>
            <a:pPr marL="742950" lvl="1" indent="-285750">
              <a:buClr>
                <a:schemeClr val="accent2"/>
              </a:buClr>
              <a:buFont typeface="Wingdings" panose="05000000000000000000" pitchFamily="2" charset="2"/>
              <a:buChar char="§"/>
            </a:pPr>
            <a:r>
              <a:rPr lang="en-US" b="1" dirty="0"/>
              <a:t>Past medical history</a:t>
            </a:r>
            <a:r>
              <a:rPr lang="en-US" dirty="0"/>
              <a:t>.  A patient who goes to the hospital multiple times per year would have a different standard of “Quality of Care” than a patient who has only been once</a:t>
            </a:r>
          </a:p>
          <a:p>
            <a:pPr marL="742950" lvl="1" indent="-285750">
              <a:buClr>
                <a:schemeClr val="accent2"/>
              </a:buClr>
              <a:buFont typeface="Wingdings" panose="05000000000000000000" pitchFamily="2" charset="2"/>
              <a:buChar char="§"/>
            </a:pPr>
            <a:r>
              <a:rPr lang="en-US" b="1" dirty="0"/>
              <a:t>Time survey was completed.  </a:t>
            </a:r>
            <a:r>
              <a:rPr lang="en-US" dirty="0"/>
              <a:t>Was this when they were in the hospital or three weeks later once they were at home?</a:t>
            </a:r>
          </a:p>
          <a:p>
            <a:pPr marL="742950" lvl="1" indent="-285750">
              <a:buClr>
                <a:schemeClr val="accent2"/>
              </a:buClr>
              <a:buFont typeface="Wingdings" panose="05000000000000000000" pitchFamily="2" charset="2"/>
              <a:buChar char="§"/>
            </a:pPr>
            <a:r>
              <a:rPr lang="en-US" b="1" dirty="0"/>
              <a:t>If they had assistance in filling out the survey.</a:t>
            </a:r>
            <a:endParaRPr lang="en-US" dirty="0"/>
          </a:p>
          <a:p>
            <a:pPr marL="742950" lvl="1" indent="-285750">
              <a:buClr>
                <a:schemeClr val="accent2"/>
              </a:buClr>
              <a:buFont typeface="Wingdings" panose="05000000000000000000" pitchFamily="2" charset="2"/>
              <a:buChar char="§"/>
            </a:pPr>
            <a:r>
              <a:rPr lang="en-US" b="1" dirty="0"/>
              <a:t>Information of missing data</a:t>
            </a:r>
            <a:r>
              <a:rPr lang="en-US" dirty="0"/>
              <a:t>.  Which patients are </a:t>
            </a:r>
            <a:r>
              <a:rPr lang="en-US" b="1" i="1" dirty="0"/>
              <a:t>not </a:t>
            </a:r>
            <a:r>
              <a:rPr lang="en-US" dirty="0"/>
              <a:t>filling out surveys?   Is this MCAR, MAR?  What causes a patient to not fill out a survey?</a:t>
            </a:r>
            <a:endParaRPr lang="en-US" b="1" i="1" dirty="0"/>
          </a:p>
        </p:txBody>
      </p:sp>
    </p:spTree>
    <p:extLst>
      <p:ext uri="{BB962C8B-B14F-4D97-AF65-F5344CB8AC3E}">
        <p14:creationId xmlns:p14="http://schemas.microsoft.com/office/powerpoint/2010/main" val="3375461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2353</TotalTime>
  <Words>1568</Words>
  <Application>Microsoft Office PowerPoint</Application>
  <PresentationFormat>Widescreen</PresentationFormat>
  <Paragraphs>164</Paragraphs>
  <Slides>26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Calibri</vt:lpstr>
      <vt:lpstr>Calibri Light</vt:lpstr>
      <vt:lpstr>Courier</vt:lpstr>
      <vt:lpstr>Wingdings</vt:lpstr>
      <vt:lpstr>Office Theme</vt:lpstr>
      <vt:lpstr>Press Ganey Analytics Exercise</vt:lpstr>
      <vt:lpstr>Overview</vt:lpstr>
      <vt:lpstr>Data Merging</vt:lpstr>
      <vt:lpstr>Description of tables</vt:lpstr>
      <vt:lpstr>Merged  tables</vt:lpstr>
      <vt:lpstr>Survey Results Summary</vt:lpstr>
      <vt:lpstr>Survey results by age and patient sex</vt:lpstr>
      <vt:lpstr>Creating a performance measure</vt:lpstr>
      <vt:lpstr>Top box performance by age and patient sex</vt:lpstr>
      <vt:lpstr>Top box performance by mode of survey</vt:lpstr>
      <vt:lpstr>Quality of care by mode of survey</vt:lpstr>
      <vt:lpstr>Measuring Quality of Care</vt:lpstr>
      <vt:lpstr>Drivers of quality of care</vt:lpstr>
      <vt:lpstr>Drivers of quality of care</vt:lpstr>
      <vt:lpstr>Drivers of quality of care</vt:lpstr>
      <vt:lpstr>Drivers of quality of care</vt:lpstr>
      <vt:lpstr>Drivers of quality of care</vt:lpstr>
      <vt:lpstr>Measuring quality of care from surveys</vt:lpstr>
      <vt:lpstr>Measuring quality of care from surveys</vt:lpstr>
      <vt:lpstr>Measuring quality of care from surveys</vt:lpstr>
      <vt:lpstr>Recap: How should overall quality of care be measured?</vt:lpstr>
      <vt:lpstr>Client Benchmarking</vt:lpstr>
      <vt:lpstr>Compare a given client to a benchmark</vt:lpstr>
      <vt:lpstr>Example: Patients over the age of 40 for Hospital ABC</vt:lpstr>
      <vt:lpstr>Future Considerations</vt:lpstr>
      <vt:lpstr>Future Considerations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Milliman Modeling Project</dc:title>
  <dc:creator>Castillo, Sam (Boston)</dc:creator>
  <cp:lastModifiedBy>Castillo, Sam (Boston)</cp:lastModifiedBy>
  <cp:revision>255</cp:revision>
  <dcterms:created xsi:type="dcterms:W3CDTF">2018-12-01T22:01:19Z</dcterms:created>
  <dcterms:modified xsi:type="dcterms:W3CDTF">2018-12-10T01:23:06Z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c700311-1b20-487f-9129-30717d50ca8e_Enabled">
    <vt:lpwstr>True</vt:lpwstr>
  </property>
  <property fmtid="{D5CDD505-2E9C-101B-9397-08002B2CF9AE}" pid="3" name="MSIP_Label_9c700311-1b20-487f-9129-30717d50ca8e_SiteId">
    <vt:lpwstr>76e3921f-489b-4b7e-9547-9ea297add9b5</vt:lpwstr>
  </property>
  <property fmtid="{D5CDD505-2E9C-101B-9397-08002B2CF9AE}" pid="4" name="MSIP_Label_9c700311-1b20-487f-9129-30717d50ca8e_Owner">
    <vt:lpwstr>sam.castillo@towerswatson.com</vt:lpwstr>
  </property>
  <property fmtid="{D5CDD505-2E9C-101B-9397-08002B2CF9AE}" pid="5" name="MSIP_Label_9c700311-1b20-487f-9129-30717d50ca8e_SetDate">
    <vt:lpwstr>2018-12-01T23:16:17.8231147Z</vt:lpwstr>
  </property>
  <property fmtid="{D5CDD505-2E9C-101B-9397-08002B2CF9AE}" pid="6" name="MSIP_Label_9c700311-1b20-487f-9129-30717d50ca8e_Name">
    <vt:lpwstr>Confidential</vt:lpwstr>
  </property>
  <property fmtid="{D5CDD505-2E9C-101B-9397-08002B2CF9AE}" pid="7" name="MSIP_Label_9c700311-1b20-487f-9129-30717d50ca8e_Application">
    <vt:lpwstr>Microsoft Azure Information Protection</vt:lpwstr>
  </property>
  <property fmtid="{D5CDD505-2E9C-101B-9397-08002B2CF9AE}" pid="8" name="MSIP_Label_9c700311-1b20-487f-9129-30717d50ca8e_Extended_MSFT_Method">
    <vt:lpwstr>Automatic</vt:lpwstr>
  </property>
  <property fmtid="{D5CDD505-2E9C-101B-9397-08002B2CF9AE}" pid="9" name="MSIP_Label_d347b247-e90e-43a3-9d7b-004f14ae6873_Enabled">
    <vt:lpwstr>True</vt:lpwstr>
  </property>
  <property fmtid="{D5CDD505-2E9C-101B-9397-08002B2CF9AE}" pid="10" name="MSIP_Label_d347b247-e90e-43a3-9d7b-004f14ae6873_SiteId">
    <vt:lpwstr>76e3921f-489b-4b7e-9547-9ea297add9b5</vt:lpwstr>
  </property>
  <property fmtid="{D5CDD505-2E9C-101B-9397-08002B2CF9AE}" pid="11" name="MSIP_Label_d347b247-e90e-43a3-9d7b-004f14ae6873_Owner">
    <vt:lpwstr>sam.castillo@towerswatson.com</vt:lpwstr>
  </property>
  <property fmtid="{D5CDD505-2E9C-101B-9397-08002B2CF9AE}" pid="12" name="MSIP_Label_d347b247-e90e-43a3-9d7b-004f14ae6873_SetDate">
    <vt:lpwstr>2018-12-01T23:16:17.8231147Z</vt:lpwstr>
  </property>
  <property fmtid="{D5CDD505-2E9C-101B-9397-08002B2CF9AE}" pid="13" name="MSIP_Label_d347b247-e90e-43a3-9d7b-004f14ae6873_Name">
    <vt:lpwstr>Anyone (No Protection)</vt:lpwstr>
  </property>
  <property fmtid="{D5CDD505-2E9C-101B-9397-08002B2CF9AE}" pid="14" name="MSIP_Label_d347b247-e90e-43a3-9d7b-004f14ae6873_Application">
    <vt:lpwstr>Microsoft Azure Information Protection</vt:lpwstr>
  </property>
  <property fmtid="{D5CDD505-2E9C-101B-9397-08002B2CF9AE}" pid="15" name="MSIP_Label_d347b247-e90e-43a3-9d7b-004f14ae6873_Parent">
    <vt:lpwstr>9c700311-1b20-487f-9129-30717d50ca8e</vt:lpwstr>
  </property>
  <property fmtid="{D5CDD505-2E9C-101B-9397-08002B2CF9AE}" pid="16" name="MSIP_Label_d347b247-e90e-43a3-9d7b-004f14ae6873_Extended_MSFT_Method">
    <vt:lpwstr>Automatic</vt:lpwstr>
  </property>
  <property fmtid="{D5CDD505-2E9C-101B-9397-08002B2CF9AE}" pid="17" name="Sensitivity">
    <vt:lpwstr>Confidential Anyone (No Protection)</vt:lpwstr>
  </property>
</Properties>
</file>