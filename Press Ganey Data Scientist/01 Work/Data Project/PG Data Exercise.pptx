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2" r:id="rId4"/>
  </p:sldMasterIdLst>
  <p:notesMasterIdLst>
    <p:notesMasterId r:id="rId9"/>
  </p:notesMasterIdLst>
  <p:sldIdLst>
    <p:sldId id="268" r:id="rId5"/>
    <p:sldId id="266" r:id="rId6"/>
    <p:sldId id="267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8B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085" autoAdjust="0"/>
    <p:restoredTop sz="95759" autoAdjust="0"/>
  </p:normalViewPr>
  <p:slideViewPr>
    <p:cSldViewPr>
      <p:cViewPr varScale="1">
        <p:scale>
          <a:sx n="82" d="100"/>
          <a:sy n="82" d="100"/>
        </p:scale>
        <p:origin x="1867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43DEC-F7A7-4D6C-88CE-C0ABB4E292CE}" type="datetimeFigureOut">
              <a:rPr lang="en-US" smtClean="0"/>
              <a:pPr/>
              <a:t>12/8/2018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869D54-1F6C-4F21-AE27-B8663E5FEF3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435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1"/>
          <p:cNvSpPr/>
          <p:nvPr/>
        </p:nvSpPr>
        <p:spPr>
          <a:xfrm>
            <a:off x="-15813" y="-91440"/>
            <a:ext cx="9197913" cy="3863340"/>
          </a:xfrm>
          <a:prstGeom prst="rect">
            <a:avLst/>
          </a:prstGeom>
          <a:solidFill>
            <a:srgbClr val="4BAA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8177"/>
          </a:p>
        </p:txBody>
      </p:sp>
      <p:sp>
        <p:nvSpPr>
          <p:cNvPr id="7" name="Shape 11"/>
          <p:cNvSpPr/>
          <p:nvPr/>
        </p:nvSpPr>
        <p:spPr>
          <a:xfrm>
            <a:off x="-15816" y="3765283"/>
            <a:ext cx="9197915" cy="45719"/>
          </a:xfrm>
          <a:prstGeom prst="rect">
            <a:avLst/>
          </a:prstGeom>
          <a:solidFill>
            <a:srgbClr val="348834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8177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23" y="1958421"/>
            <a:ext cx="6561137" cy="144830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267">
                <a:solidFill>
                  <a:schemeClr val="bg1"/>
                </a:solidFill>
                <a:latin typeface="Trebuchet MS" panose="020B0603020202020204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24" y="4254673"/>
            <a:ext cx="5189537" cy="12868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844" baseline="0">
                <a:solidFill>
                  <a:srgbClr val="5E6052"/>
                </a:solidFill>
                <a:latin typeface="+mn-lt"/>
                <a:cs typeface="Arial" pitchFamily="34" charset="0"/>
              </a:defRPr>
            </a:lvl1pPr>
            <a:lvl2pPr marL="812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25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51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637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6893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02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Shape 11"/>
          <p:cNvSpPr/>
          <p:nvPr/>
        </p:nvSpPr>
        <p:spPr>
          <a:xfrm flipV="1">
            <a:off x="266700" y="6805700"/>
            <a:ext cx="8610600" cy="68704"/>
          </a:xfrm>
          <a:prstGeom prst="rect">
            <a:avLst/>
          </a:prstGeom>
          <a:solidFill>
            <a:srgbClr val="348834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8177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2" y="5604067"/>
            <a:ext cx="1839049" cy="307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584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Only_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4849" y="1152525"/>
            <a:ext cx="7772400" cy="51435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marR="0" indent="0" algn="l" defTabSz="162551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 sz="2844" b="0" baseline="0">
                <a:solidFill>
                  <a:srgbClr val="5E605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0" marR="0" indent="0" algn="l" defTabSz="81276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1067"/>
              </a:spcAft>
              <a:buClr>
                <a:srgbClr val="4BAA42"/>
              </a:buClr>
              <a:buSzPct val="133000"/>
              <a:buFont typeface="Wingdings" charset="2"/>
              <a:buNone/>
              <a:tabLst/>
              <a:defRPr sz="3556" baseline="0">
                <a:latin typeface="Arial" pitchFamily="34" charset="0"/>
                <a:cs typeface="Arial" pitchFamily="34" charset="0"/>
              </a:defRPr>
            </a:lvl2pPr>
            <a:lvl3pPr marL="812760" indent="-373869">
              <a:spcBef>
                <a:spcPct val="20000"/>
              </a:spcBef>
              <a:spcAft>
                <a:spcPts val="1067"/>
              </a:spcAft>
              <a:buClr>
                <a:srgbClr val="9A8B7D"/>
              </a:buClr>
              <a:buSzPct val="133000"/>
              <a:buFont typeface="Wingdings" charset="2"/>
              <a:buChar char="§"/>
              <a:defRPr sz="3556">
                <a:latin typeface="Arial" pitchFamily="34" charset="0"/>
                <a:cs typeface="Arial" pitchFamily="34" charset="0"/>
              </a:defRPr>
            </a:lvl3pPr>
            <a:lvl4pPr marL="1625519" indent="372515">
              <a:spcBef>
                <a:spcPts val="853"/>
              </a:spcBef>
              <a:spcAft>
                <a:spcPts val="1067"/>
              </a:spcAft>
              <a:buClr>
                <a:srgbClr val="9A8B7D"/>
              </a:buClr>
              <a:buFont typeface="Arial"/>
              <a:buChar char="–"/>
              <a:defRPr sz="3556">
                <a:latin typeface="Arial" pitchFamily="34" charset="0"/>
                <a:cs typeface="Arial" pitchFamily="34" charset="0"/>
              </a:defRPr>
            </a:lvl4pPr>
            <a:lvl5pPr>
              <a:defRPr sz="3556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sz="284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Click to edit Master text styles</a:t>
            </a:r>
          </a:p>
        </p:txBody>
      </p:sp>
      <p:sp>
        <p:nvSpPr>
          <p:cNvPr id="7" name="Title Placeholder 10"/>
          <p:cNvSpPr>
            <a:spLocks noGrp="1"/>
          </p:cNvSpPr>
          <p:nvPr>
            <p:ph type="title"/>
          </p:nvPr>
        </p:nvSpPr>
        <p:spPr>
          <a:xfrm>
            <a:off x="525207" y="76200"/>
            <a:ext cx="8142544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>
              <a:lnSpc>
                <a:spcPts val="5333"/>
              </a:lnSpc>
              <a:defRPr sz="4623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Shape 11"/>
          <p:cNvSpPr/>
          <p:nvPr/>
        </p:nvSpPr>
        <p:spPr>
          <a:xfrm>
            <a:off x="266701" y="830951"/>
            <a:ext cx="8610600" cy="45719"/>
          </a:xfrm>
          <a:prstGeom prst="rect">
            <a:avLst/>
          </a:prstGeom>
          <a:solidFill>
            <a:srgbClr val="348834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8177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Slide Number Placeholder 5"/>
          <p:cNvSpPr txBox="1">
            <a:spLocks/>
          </p:cNvSpPr>
          <p:nvPr/>
        </p:nvSpPr>
        <p:spPr>
          <a:xfrm>
            <a:off x="3505200" y="6408721"/>
            <a:ext cx="2133600" cy="207126"/>
          </a:xfrm>
          <a:prstGeom prst="rect">
            <a:avLst/>
          </a:prstGeom>
        </p:spPr>
        <p:txBody>
          <a:bodyPr vert="horz" lIns="162560" tIns="81280" rIns="162560" bIns="8128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6306FF-9B50-45CB-99A2-621A4158CC5D}" type="slidenum">
              <a:rPr lang="en-US" sz="1777" smtClean="0">
                <a:solidFill>
                  <a:srgbClr val="545454"/>
                </a:solidFill>
              </a:rPr>
              <a:pPr/>
              <a:t>‹#›</a:t>
            </a:fld>
            <a:endParaRPr lang="en-US" sz="1777" dirty="0">
              <a:solidFill>
                <a:srgbClr val="545454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41937" y="6628263"/>
            <a:ext cx="2286000" cy="229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89" dirty="0">
                <a:solidFill>
                  <a:srgbClr val="5E60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2015 Press </a:t>
            </a:r>
            <a:r>
              <a:rPr lang="en-US" sz="889" dirty="0" err="1">
                <a:solidFill>
                  <a:srgbClr val="5E60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Ganey</a:t>
            </a:r>
            <a:r>
              <a:rPr lang="en-US" sz="889" dirty="0">
                <a:solidFill>
                  <a:srgbClr val="5E60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Associates, Inc.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02" y="6347793"/>
            <a:ext cx="1671863" cy="27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114994"/>
      </p:ext>
    </p:extLst>
  </p:cSld>
  <p:clrMapOvr>
    <a:masterClrMapping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Only_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1"/>
          <p:cNvSpPr/>
          <p:nvPr/>
        </p:nvSpPr>
        <p:spPr>
          <a:xfrm>
            <a:off x="266701" y="-91440"/>
            <a:ext cx="8610600" cy="922390"/>
          </a:xfrm>
          <a:prstGeom prst="rect">
            <a:avLst/>
          </a:prstGeom>
          <a:solidFill>
            <a:srgbClr val="4BAA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8177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4851" y="1152525"/>
            <a:ext cx="7225259" cy="51435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marR="0" indent="0" algn="l" defTabSz="162551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 sz="2844" b="0" baseline="0">
                <a:solidFill>
                  <a:srgbClr val="5E60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marR="0" indent="0" algn="l" defTabSz="81276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1067"/>
              </a:spcAft>
              <a:buClr>
                <a:srgbClr val="4BAA42"/>
              </a:buClr>
              <a:buSzPct val="133000"/>
              <a:buFont typeface="Wingdings" charset="2"/>
              <a:buNone/>
              <a:tabLst/>
              <a:defRPr sz="3556" baseline="0">
                <a:latin typeface="Arial" pitchFamily="34" charset="0"/>
                <a:cs typeface="Arial" pitchFamily="34" charset="0"/>
              </a:defRPr>
            </a:lvl2pPr>
            <a:lvl3pPr marL="812760" indent="-373869">
              <a:spcBef>
                <a:spcPct val="20000"/>
              </a:spcBef>
              <a:spcAft>
                <a:spcPts val="1067"/>
              </a:spcAft>
              <a:buClr>
                <a:srgbClr val="9A8B7D"/>
              </a:buClr>
              <a:buSzPct val="133000"/>
              <a:buFont typeface="Wingdings" charset="2"/>
              <a:buChar char="§"/>
              <a:defRPr sz="3556">
                <a:latin typeface="Arial" pitchFamily="34" charset="0"/>
                <a:cs typeface="Arial" pitchFamily="34" charset="0"/>
              </a:defRPr>
            </a:lvl3pPr>
            <a:lvl4pPr marL="1625519" indent="372515">
              <a:spcBef>
                <a:spcPts val="853"/>
              </a:spcBef>
              <a:spcAft>
                <a:spcPts val="1067"/>
              </a:spcAft>
              <a:buClr>
                <a:srgbClr val="9A8B7D"/>
              </a:buClr>
              <a:buFont typeface="Arial"/>
              <a:buChar char="–"/>
              <a:defRPr sz="3556">
                <a:latin typeface="Arial" pitchFamily="34" charset="0"/>
                <a:cs typeface="Arial" pitchFamily="34" charset="0"/>
              </a:defRPr>
            </a:lvl4pPr>
            <a:lvl5pPr>
              <a:defRPr sz="3556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sz="2844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Click to edit Master text styles</a:t>
            </a:r>
          </a:p>
        </p:txBody>
      </p:sp>
      <p:sp>
        <p:nvSpPr>
          <p:cNvPr id="7" name="Title Placeholder 10"/>
          <p:cNvSpPr>
            <a:spLocks noGrp="1"/>
          </p:cNvSpPr>
          <p:nvPr>
            <p:ph type="title"/>
          </p:nvPr>
        </p:nvSpPr>
        <p:spPr>
          <a:xfrm>
            <a:off x="525207" y="76200"/>
            <a:ext cx="8142544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ts val="5333"/>
              </a:lnSpc>
              <a:defRPr sz="4623">
                <a:solidFill>
                  <a:schemeClr val="bg1"/>
                </a:solidFill>
                <a:latin typeface="Trebuchet MS" panose="020B0603020202020204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hape 11"/>
          <p:cNvSpPr/>
          <p:nvPr/>
        </p:nvSpPr>
        <p:spPr>
          <a:xfrm flipV="1">
            <a:off x="266700" y="6805700"/>
            <a:ext cx="8610600" cy="68704"/>
          </a:xfrm>
          <a:prstGeom prst="rect">
            <a:avLst/>
          </a:prstGeom>
          <a:solidFill>
            <a:srgbClr val="348834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8177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66701" y="830951"/>
            <a:ext cx="8610600" cy="45719"/>
          </a:xfrm>
          <a:prstGeom prst="rect">
            <a:avLst/>
          </a:prstGeom>
          <a:solidFill>
            <a:srgbClr val="348834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8177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Slide Number Placeholder 5"/>
          <p:cNvSpPr txBox="1">
            <a:spLocks/>
          </p:cNvSpPr>
          <p:nvPr/>
        </p:nvSpPr>
        <p:spPr>
          <a:xfrm>
            <a:off x="3505200" y="6408721"/>
            <a:ext cx="2133600" cy="207126"/>
          </a:xfrm>
          <a:prstGeom prst="rect">
            <a:avLst/>
          </a:prstGeom>
        </p:spPr>
        <p:txBody>
          <a:bodyPr vert="horz" lIns="162560" tIns="81280" rIns="162560" bIns="8128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6306FF-9B50-45CB-99A2-621A4158CC5D}" type="slidenum">
              <a:rPr lang="en-US" sz="1000" smtClean="0">
                <a:solidFill>
                  <a:srgbClr val="545454"/>
                </a:solidFill>
              </a:rPr>
              <a:pPr/>
              <a:t>‹#›</a:t>
            </a:fld>
            <a:endParaRPr lang="en-US" sz="1000" dirty="0">
              <a:solidFill>
                <a:srgbClr val="545454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41937" y="6628263"/>
            <a:ext cx="2286000" cy="229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89" dirty="0">
                <a:solidFill>
                  <a:srgbClr val="5E60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2015 Press </a:t>
            </a:r>
            <a:r>
              <a:rPr lang="en-US" sz="889" dirty="0" err="1">
                <a:solidFill>
                  <a:srgbClr val="5E60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Ganey</a:t>
            </a:r>
            <a:r>
              <a:rPr lang="en-US" sz="889" dirty="0">
                <a:solidFill>
                  <a:srgbClr val="5E60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Associates, Inc.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02" y="6347793"/>
            <a:ext cx="1671863" cy="27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827831"/>
      </p:ext>
    </p:extLst>
  </p:cSld>
  <p:clrMapOvr>
    <a:masterClrMapping/>
  </p:clrMapOvr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nly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1"/>
          <p:cNvSpPr/>
          <p:nvPr/>
        </p:nvSpPr>
        <p:spPr>
          <a:xfrm>
            <a:off x="266701" y="-91440"/>
            <a:ext cx="8610600" cy="922390"/>
          </a:xfrm>
          <a:prstGeom prst="rect">
            <a:avLst/>
          </a:prstGeom>
          <a:solidFill>
            <a:srgbClr val="4BAA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8177"/>
          </a:p>
        </p:txBody>
      </p:sp>
      <p:sp>
        <p:nvSpPr>
          <p:cNvPr id="17" name="Shape 11"/>
          <p:cNvSpPr/>
          <p:nvPr/>
        </p:nvSpPr>
        <p:spPr>
          <a:xfrm>
            <a:off x="266701" y="830951"/>
            <a:ext cx="8610600" cy="45719"/>
          </a:xfrm>
          <a:prstGeom prst="rect">
            <a:avLst/>
          </a:prstGeom>
          <a:solidFill>
            <a:srgbClr val="348834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8177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Title Placeholder 10"/>
          <p:cNvSpPr>
            <a:spLocks noGrp="1"/>
          </p:cNvSpPr>
          <p:nvPr>
            <p:ph type="title"/>
          </p:nvPr>
        </p:nvSpPr>
        <p:spPr>
          <a:xfrm>
            <a:off x="517161" y="76200"/>
            <a:ext cx="8141065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ts val="5333"/>
              </a:lnSpc>
              <a:defRPr sz="4623">
                <a:solidFill>
                  <a:schemeClr val="bg1"/>
                </a:solidFill>
                <a:latin typeface="Trebuchet MS" panose="020B0603020202020204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704852" y="1155700"/>
            <a:ext cx="7742713" cy="381000"/>
          </a:xfrm>
        </p:spPr>
        <p:txBody>
          <a:bodyPr/>
          <a:lstStyle>
            <a:lvl1pPr marL="0" indent="0">
              <a:buNone/>
              <a:defRPr b="0" baseline="0">
                <a:solidFill>
                  <a:srgbClr val="4BAA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A HEADLINE IN THE BODY SHOULD BE ALL CAPS – TAHOMA 16PT., GREEN</a:t>
            </a:r>
          </a:p>
        </p:txBody>
      </p:sp>
      <p:sp>
        <p:nvSpPr>
          <p:cNvPr id="19" name="Shape 11"/>
          <p:cNvSpPr/>
          <p:nvPr/>
        </p:nvSpPr>
        <p:spPr>
          <a:xfrm flipV="1">
            <a:off x="266700" y="6805700"/>
            <a:ext cx="8610600" cy="68704"/>
          </a:xfrm>
          <a:prstGeom prst="rect">
            <a:avLst/>
          </a:prstGeom>
          <a:solidFill>
            <a:srgbClr val="348834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8177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709349" y="1710449"/>
            <a:ext cx="7742715" cy="4480956"/>
          </a:xfrm>
        </p:spPr>
        <p:txBody>
          <a:bodyPr>
            <a:normAutofit/>
          </a:bodyPr>
          <a:lstStyle>
            <a:lvl1pPr marL="400735" indent="-400735">
              <a:buClr>
                <a:schemeClr val="accent1"/>
              </a:buClr>
              <a:buFont typeface="Wingdings" pitchFamily="2" charset="2"/>
              <a:buChar char="§"/>
              <a:defRPr sz="2844" baseline="0">
                <a:solidFill>
                  <a:srgbClr val="5E60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1213495" indent="-507974">
              <a:buClr>
                <a:schemeClr val="bg2"/>
              </a:buClr>
              <a:buFont typeface="Wingdings" pitchFamily="2" charset="2"/>
              <a:buChar char="§"/>
              <a:defRPr sz="2844">
                <a:solidFill>
                  <a:srgbClr val="5E60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2031899" indent="-406379">
              <a:buClr>
                <a:schemeClr val="accent1"/>
              </a:buClr>
              <a:buFont typeface="Arial" pitchFamily="34" charset="0"/>
              <a:buChar char="–"/>
              <a:defRPr sz="2844">
                <a:solidFill>
                  <a:srgbClr val="5E60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buClr>
                <a:schemeClr val="bg2"/>
              </a:buClr>
              <a:defRPr sz="2844">
                <a:solidFill>
                  <a:srgbClr val="5E60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US" dirty="0"/>
              <a:t>Bullet level 1 – all body copy is Tahoma 16pt., Gray R:94 G:96 B:82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4" name="Slide Number Placeholder 5"/>
          <p:cNvSpPr txBox="1">
            <a:spLocks/>
          </p:cNvSpPr>
          <p:nvPr/>
        </p:nvSpPr>
        <p:spPr>
          <a:xfrm>
            <a:off x="3505200" y="6408721"/>
            <a:ext cx="2133600" cy="207126"/>
          </a:xfrm>
          <a:prstGeom prst="rect">
            <a:avLst/>
          </a:prstGeom>
        </p:spPr>
        <p:txBody>
          <a:bodyPr vert="horz" lIns="162560" tIns="81280" rIns="162560" bIns="8128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6306FF-9B50-45CB-99A2-621A4158CC5D}" type="slidenum">
              <a:rPr lang="en-US" sz="1000" smtClean="0">
                <a:solidFill>
                  <a:srgbClr val="545454"/>
                </a:solidFill>
              </a:rPr>
              <a:pPr/>
              <a:t>‹#›</a:t>
            </a:fld>
            <a:endParaRPr lang="en-US" sz="1000" dirty="0">
              <a:solidFill>
                <a:srgbClr val="545454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641937" y="6628263"/>
            <a:ext cx="2286000" cy="229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89" dirty="0">
                <a:solidFill>
                  <a:srgbClr val="5E60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2015 Press </a:t>
            </a:r>
            <a:r>
              <a:rPr lang="en-US" sz="889" dirty="0" err="1">
                <a:solidFill>
                  <a:srgbClr val="5E60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Ganey</a:t>
            </a:r>
            <a:r>
              <a:rPr lang="en-US" sz="889" dirty="0">
                <a:solidFill>
                  <a:srgbClr val="5E60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Associates, Inc.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02" y="6347793"/>
            <a:ext cx="1671863" cy="27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824391"/>
      </p:ext>
    </p:extLst>
  </p:cSld>
  <p:clrMapOvr>
    <a:masterClrMapping/>
  </p:clrMapOvr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1"/>
          <p:cNvSpPr/>
          <p:nvPr/>
        </p:nvSpPr>
        <p:spPr>
          <a:xfrm flipV="1">
            <a:off x="266700" y="6805700"/>
            <a:ext cx="8610600" cy="68704"/>
          </a:xfrm>
          <a:prstGeom prst="rect">
            <a:avLst/>
          </a:prstGeom>
          <a:solidFill>
            <a:srgbClr val="348834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8177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Shape 11"/>
          <p:cNvSpPr/>
          <p:nvPr/>
        </p:nvSpPr>
        <p:spPr>
          <a:xfrm>
            <a:off x="-15813" y="-91440"/>
            <a:ext cx="9197913" cy="3863340"/>
          </a:xfrm>
          <a:prstGeom prst="rect">
            <a:avLst/>
          </a:prstGeom>
          <a:solidFill>
            <a:srgbClr val="4BAA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8177"/>
          </a:p>
        </p:txBody>
      </p:sp>
      <p:sp>
        <p:nvSpPr>
          <p:cNvPr id="7" name="Shape 11"/>
          <p:cNvSpPr/>
          <p:nvPr/>
        </p:nvSpPr>
        <p:spPr>
          <a:xfrm>
            <a:off x="-15816" y="3765283"/>
            <a:ext cx="9197915" cy="45719"/>
          </a:xfrm>
          <a:prstGeom prst="rect">
            <a:avLst/>
          </a:prstGeom>
          <a:solidFill>
            <a:srgbClr val="348834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8177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1349923" y="1958421"/>
            <a:ext cx="6561137" cy="144830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267">
                <a:solidFill>
                  <a:schemeClr val="bg1"/>
                </a:solidFill>
                <a:latin typeface="Trebuchet MS" panose="020B0603020202020204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220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1"/>
            <a:ext cx="8229600" cy="4906963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 sz="3556" b="0">
                <a:latin typeface="Arial" pitchFamily="34" charset="0"/>
                <a:cs typeface="Arial" pitchFamily="34" charset="0"/>
              </a:defRPr>
            </a:lvl1pPr>
            <a:lvl2pPr marL="0" marR="0" indent="0" algn="l" defTabSz="81276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1067"/>
              </a:spcAft>
              <a:buClr>
                <a:srgbClr val="4BAA42"/>
              </a:buClr>
              <a:buSzPct val="133000"/>
              <a:buFont typeface="Wingdings" charset="2"/>
              <a:buNone/>
              <a:tabLst/>
              <a:defRPr sz="3556">
                <a:latin typeface="Arial" pitchFamily="34" charset="0"/>
                <a:cs typeface="Arial" pitchFamily="34" charset="0"/>
              </a:defRPr>
            </a:lvl2pPr>
            <a:lvl3pPr marL="812760" indent="-373869">
              <a:spcBef>
                <a:spcPct val="20000"/>
              </a:spcBef>
              <a:spcAft>
                <a:spcPts val="1067"/>
              </a:spcAft>
              <a:buClr>
                <a:srgbClr val="9A8B7D"/>
              </a:buClr>
              <a:buSzPct val="133000"/>
              <a:buFont typeface="Wingdings" charset="2"/>
              <a:buChar char="§"/>
              <a:defRPr sz="3556">
                <a:latin typeface="Arial" pitchFamily="34" charset="0"/>
                <a:cs typeface="Arial" pitchFamily="34" charset="0"/>
              </a:defRPr>
            </a:lvl3pPr>
            <a:lvl4pPr marL="1625519" indent="372515">
              <a:spcBef>
                <a:spcPts val="853"/>
              </a:spcBef>
              <a:spcAft>
                <a:spcPts val="1067"/>
              </a:spcAft>
              <a:buClr>
                <a:srgbClr val="9A8B7D"/>
              </a:buClr>
              <a:buFont typeface="Arial"/>
              <a:buChar char="–"/>
              <a:defRPr sz="3556">
                <a:latin typeface="Arial" pitchFamily="34" charset="0"/>
                <a:cs typeface="Arial" pitchFamily="34" charset="0"/>
              </a:defRPr>
            </a:lvl4pPr>
            <a:lvl5pPr>
              <a:defRPr sz="3556">
                <a:latin typeface="Arial" pitchFamily="34" charset="0"/>
                <a:cs typeface="Arial" pitchFamily="34" charset="0"/>
              </a:defRPr>
            </a:lvl5pPr>
          </a:lstStyle>
          <a:p>
            <a:pPr marL="0" lvl="0" indent="-373869">
              <a:buClr>
                <a:srgbClr val="9A8C80"/>
              </a:buClr>
              <a:buSzPct val="133000"/>
              <a:defRPr/>
            </a:pPr>
            <a:r>
              <a:rPr kumimoji="0" lang="en-US" sz="3556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Click to edit Master text styles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1"/>
            <a:ext cx="21336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423">
                <a:solidFill>
                  <a:schemeClr val="bg2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© 2012 Press Ganey Associates, Inc.</a:t>
            </a:r>
            <a:endParaRPr lang="en-US" dirty="0"/>
          </a:p>
        </p:txBody>
      </p:sp>
      <p:sp>
        <p:nvSpPr>
          <p:cNvPr id="14" name="Slide Number Placeholder 5"/>
          <p:cNvSpPr txBox="1">
            <a:spLocks/>
          </p:cNvSpPr>
          <p:nvPr userDrawn="1"/>
        </p:nvSpPr>
        <p:spPr>
          <a:xfrm>
            <a:off x="3200400" y="6324601"/>
            <a:ext cx="2133600" cy="365125"/>
          </a:xfrm>
          <a:prstGeom prst="rect">
            <a:avLst/>
          </a:prstGeom>
        </p:spPr>
        <p:txBody>
          <a:bodyPr vert="horz" lIns="162560" tIns="81280" rIns="162560" bIns="8128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6306FF-9B50-45CB-99A2-621A4158CC5D}" type="slidenum">
              <a:rPr lang="en-US" sz="1000" smtClean="0">
                <a:solidFill>
                  <a:schemeClr val="tx1"/>
                </a:solidFill>
              </a:rPr>
              <a:pPr/>
              <a:t>‹#›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 userDrawn="1"/>
        </p:nvSpPr>
        <p:spPr>
          <a:xfrm>
            <a:off x="457200" y="152400"/>
            <a:ext cx="8229600" cy="609600"/>
          </a:xfrm>
          <a:prstGeom prst="rect">
            <a:avLst/>
          </a:prstGeom>
        </p:spPr>
        <p:txBody>
          <a:bodyPr vert="horz" lIns="162560" tIns="81280" rIns="162560" bIns="8128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8127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689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Arial"/>
              <a:ea typeface="+mj-ea"/>
              <a:cs typeface="Arial"/>
            </a:endParaRPr>
          </a:p>
        </p:txBody>
      </p:sp>
      <p:sp>
        <p:nvSpPr>
          <p:cNvPr id="7" name="Title Placeholder 10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lnSpc>
                <a:spcPts val="5333"/>
              </a:lnSpc>
              <a:defRPr sz="5689">
                <a:solidFill>
                  <a:srgbClr val="9A8B7D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5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 txBox="1">
            <a:spLocks/>
          </p:cNvSpPr>
          <p:nvPr userDrawn="1"/>
        </p:nvSpPr>
        <p:spPr>
          <a:xfrm>
            <a:off x="3200400" y="6324601"/>
            <a:ext cx="2133600" cy="365125"/>
          </a:xfrm>
          <a:prstGeom prst="rect">
            <a:avLst/>
          </a:prstGeom>
        </p:spPr>
        <p:txBody>
          <a:bodyPr vert="horz" lIns="162560" tIns="81280" rIns="162560" bIns="8128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6306FF-9B50-45CB-99A2-621A4158CC5D}" type="slidenum">
              <a:rPr lang="en-US" sz="1000" smtClean="0">
                <a:solidFill>
                  <a:schemeClr val="tx1"/>
                </a:solidFill>
              </a:rPr>
              <a:pPr/>
              <a:t>‹#›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457200" y="152400"/>
            <a:ext cx="8229600" cy="609600"/>
          </a:xfrm>
          <a:prstGeom prst="rect">
            <a:avLst/>
          </a:prstGeom>
        </p:spPr>
        <p:txBody>
          <a:bodyPr vert="horz" lIns="162560" tIns="81280" rIns="162560" bIns="8128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8127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689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Arial"/>
              <a:ea typeface="+mj-ea"/>
              <a:cs typeface="Arial"/>
            </a:endParaRPr>
          </a:p>
        </p:txBody>
      </p:sp>
      <p:sp>
        <p:nvSpPr>
          <p:cNvPr id="12" name="Title Placeholder 10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lnSpc>
                <a:spcPts val="5333"/>
              </a:lnSpc>
              <a:defRPr sz="5689">
                <a:solidFill>
                  <a:srgbClr val="9A8B7D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57200" y="1295400"/>
            <a:ext cx="8229600" cy="4800600"/>
          </a:xfrm>
        </p:spPr>
        <p:txBody>
          <a:bodyPr/>
          <a:lstStyle>
            <a:lvl1pPr marL="609570" indent="-609570">
              <a:buClr>
                <a:schemeClr val="accent1"/>
              </a:buClr>
              <a:buFont typeface="Wingdings" pitchFamily="2" charset="2"/>
              <a:buChar char="§"/>
              <a:defRPr sz="3556">
                <a:latin typeface="Arial" pitchFamily="34" charset="0"/>
                <a:cs typeface="Arial" pitchFamily="34" charset="0"/>
              </a:defRPr>
            </a:lvl1pPr>
            <a:lvl2pPr marL="1320734" indent="-507974">
              <a:buClr>
                <a:schemeClr val="bg2"/>
              </a:buClr>
              <a:buFont typeface="Wingdings" pitchFamily="2" charset="2"/>
              <a:buChar char="§"/>
              <a:defRPr sz="3556">
                <a:latin typeface="Arial" pitchFamily="34" charset="0"/>
                <a:cs typeface="Arial" pitchFamily="34" charset="0"/>
              </a:defRPr>
            </a:lvl2pPr>
            <a:lvl3pPr marL="2031899" indent="-406379">
              <a:buClr>
                <a:schemeClr val="accent1"/>
              </a:buClr>
              <a:buFont typeface="Arial" pitchFamily="34" charset="0"/>
              <a:buChar char="–"/>
              <a:defRPr sz="3556">
                <a:latin typeface="Arial" pitchFamily="34" charset="0"/>
                <a:cs typeface="Arial" pitchFamily="34" charset="0"/>
              </a:defRPr>
            </a:lvl3pPr>
            <a:lvl4pPr>
              <a:buClr>
                <a:schemeClr val="bg2"/>
              </a:buClr>
              <a:defRPr>
                <a:latin typeface="Arial" pitchFamily="34" charset="0"/>
                <a:cs typeface="Arial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04835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895600"/>
            <a:ext cx="8229600" cy="6096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5689">
                <a:solidFill>
                  <a:schemeClr val="bg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1"/>
            <a:ext cx="21336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423">
                <a:solidFill>
                  <a:schemeClr val="bg2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© 2012 Press Ganey Associates, Inc.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220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1752601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itle Placeholder 10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188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7" r:id="rId2"/>
    <p:sldLayoutId id="2147483664" r:id="rId3"/>
    <p:sldLayoutId id="2147483665" r:id="rId4"/>
    <p:sldLayoutId id="2147483666" r:id="rId5"/>
    <p:sldLayoutId id="2147483650" r:id="rId6"/>
    <p:sldLayoutId id="2147483661" r:id="rId7"/>
    <p:sldLayoutId id="2147483651" r:id="rId8"/>
  </p:sldLayoutIdLst>
  <p:hf sldNum="0" hdr="0" ftr="0"/>
  <p:txStyles>
    <p:titleStyle>
      <a:lvl1pPr algn="l" defTabSz="1625519" rtl="0" eaLnBrk="1" latinLnBrk="0" hangingPunct="1">
        <a:spcBef>
          <a:spcPct val="0"/>
        </a:spcBef>
        <a:buNone/>
        <a:defRPr sz="4623" kern="1200">
          <a:solidFill>
            <a:schemeClr val="bg2"/>
          </a:solidFill>
          <a:latin typeface="Trebuchet MS" panose="020B0603020202020204" pitchFamily="34" charset="0"/>
          <a:ea typeface="+mj-ea"/>
          <a:cs typeface="Arial" pitchFamily="34" charset="0"/>
        </a:defRPr>
      </a:lvl1pPr>
    </p:titleStyle>
    <p:bodyStyle>
      <a:lvl1pPr marL="609570" indent="-609570" algn="l" defTabSz="1625519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§"/>
        <a:defRPr sz="2844" kern="1200">
          <a:solidFill>
            <a:srgbClr val="545454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1320734" indent="-507974" algn="l" defTabSz="1625519" rtl="0" eaLnBrk="1" latinLnBrk="0" hangingPunct="1">
        <a:spcBef>
          <a:spcPct val="20000"/>
        </a:spcBef>
        <a:buClr>
          <a:schemeClr val="bg2"/>
        </a:buClr>
        <a:buFont typeface="Wingdings" pitchFamily="2" charset="2"/>
        <a:buChar char="§"/>
        <a:defRPr sz="2844" kern="1200">
          <a:solidFill>
            <a:srgbClr val="545454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2031899" indent="-406379" algn="l" defTabSz="1625519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–"/>
        <a:defRPr sz="2844" kern="1200">
          <a:solidFill>
            <a:srgbClr val="545454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2844658" indent="-406379" algn="l" defTabSz="1625519" rtl="0" eaLnBrk="1" latinLnBrk="0" hangingPunct="1">
        <a:spcBef>
          <a:spcPct val="20000"/>
        </a:spcBef>
        <a:buClr>
          <a:schemeClr val="bg2"/>
        </a:buClr>
        <a:buFont typeface="Arial" pitchFamily="34" charset="0"/>
        <a:buChar char="–"/>
        <a:defRPr sz="2844" kern="1200">
          <a:solidFill>
            <a:srgbClr val="545454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3657417" indent="-406379" algn="l" defTabSz="1625519" rtl="0" eaLnBrk="1" latinLnBrk="0" hangingPunct="1">
        <a:spcBef>
          <a:spcPct val="20000"/>
        </a:spcBef>
        <a:buFont typeface="Arial" pitchFamily="34" charset="0"/>
        <a:buChar char="»"/>
        <a:defRPr sz="3556" kern="1200">
          <a:solidFill>
            <a:schemeClr val="tx1"/>
          </a:solidFill>
          <a:latin typeface="+mn-lt"/>
          <a:ea typeface="+mn-ea"/>
          <a:cs typeface="+mn-cs"/>
        </a:defRPr>
      </a:lvl5pPr>
      <a:lvl6pPr marL="4470176" indent="-406379" algn="l" defTabSz="1625519" rtl="0" eaLnBrk="1" latinLnBrk="0" hangingPunct="1">
        <a:spcBef>
          <a:spcPct val="20000"/>
        </a:spcBef>
        <a:buFont typeface="Arial" pitchFamily="34" charset="0"/>
        <a:buChar char="•"/>
        <a:defRPr sz="3556" kern="1200">
          <a:solidFill>
            <a:schemeClr val="tx1"/>
          </a:solidFill>
          <a:latin typeface="+mn-lt"/>
          <a:ea typeface="+mn-ea"/>
          <a:cs typeface="+mn-cs"/>
        </a:defRPr>
      </a:lvl6pPr>
      <a:lvl7pPr marL="5282936" indent="-406379" algn="l" defTabSz="1625519" rtl="0" eaLnBrk="1" latinLnBrk="0" hangingPunct="1">
        <a:spcBef>
          <a:spcPct val="20000"/>
        </a:spcBef>
        <a:buFont typeface="Arial" pitchFamily="34" charset="0"/>
        <a:buChar char="•"/>
        <a:defRPr sz="3556" kern="1200">
          <a:solidFill>
            <a:schemeClr val="tx1"/>
          </a:solidFill>
          <a:latin typeface="+mn-lt"/>
          <a:ea typeface="+mn-ea"/>
          <a:cs typeface="+mn-cs"/>
        </a:defRPr>
      </a:lvl7pPr>
      <a:lvl8pPr marL="6095696" indent="-406379" algn="l" defTabSz="1625519" rtl="0" eaLnBrk="1" latinLnBrk="0" hangingPunct="1">
        <a:spcBef>
          <a:spcPct val="20000"/>
        </a:spcBef>
        <a:buFont typeface="Arial" pitchFamily="34" charset="0"/>
        <a:buChar char="•"/>
        <a:defRPr sz="3556" kern="1200">
          <a:solidFill>
            <a:schemeClr val="tx1"/>
          </a:solidFill>
          <a:latin typeface="+mn-lt"/>
          <a:ea typeface="+mn-ea"/>
          <a:cs typeface="+mn-cs"/>
        </a:defRPr>
      </a:lvl8pPr>
      <a:lvl9pPr marL="6908454" indent="-406379" algn="l" defTabSz="1625519" rtl="0" eaLnBrk="1" latinLnBrk="0" hangingPunct="1">
        <a:spcBef>
          <a:spcPct val="20000"/>
        </a:spcBef>
        <a:buFont typeface="Arial" pitchFamily="34" charset="0"/>
        <a:buChar char="•"/>
        <a:defRPr sz="35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51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760" algn="l" defTabSz="162551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519" algn="l" defTabSz="162551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278" algn="l" defTabSz="162551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037" algn="l" defTabSz="162551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3797" algn="l" defTabSz="162551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557" algn="l" defTabSz="162551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315" algn="l" defTabSz="162551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075" algn="l" defTabSz="162551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Press Ganey Analytics Exercise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133" dirty="0"/>
              <a:t>Overview</a:t>
            </a:r>
          </a:p>
          <a:p>
            <a:r>
              <a:rPr lang="en-US" sz="2133" dirty="0"/>
              <a:t>This exercise is designed to gauge your basic ability to merge tables and analyze data</a:t>
            </a:r>
          </a:p>
          <a:p>
            <a:r>
              <a:rPr lang="en-US" sz="2133" dirty="0"/>
              <a:t>The data represents patients’ typical assessments of their experience with a medical encounter</a:t>
            </a:r>
          </a:p>
          <a:p>
            <a:r>
              <a:rPr lang="en-US" sz="2133" dirty="0"/>
              <a:t>You should have received a zipped file with four tables: </a:t>
            </a:r>
            <a:r>
              <a:rPr lang="en-US" sz="2133" b="1" dirty="0"/>
              <a:t>Survey</a:t>
            </a:r>
            <a:r>
              <a:rPr lang="en-US" sz="2133" dirty="0"/>
              <a:t>, </a:t>
            </a:r>
            <a:r>
              <a:rPr lang="en-US" sz="2133" b="1" dirty="0" err="1"/>
              <a:t>SurveyItem</a:t>
            </a:r>
            <a:r>
              <a:rPr lang="en-US" sz="2133" dirty="0"/>
              <a:t>, </a:t>
            </a:r>
            <a:r>
              <a:rPr lang="en-US" sz="2133" b="1" dirty="0"/>
              <a:t>Patient</a:t>
            </a:r>
            <a:r>
              <a:rPr lang="en-US" sz="2133" dirty="0"/>
              <a:t>, and </a:t>
            </a:r>
            <a:r>
              <a:rPr lang="en-US" sz="2133" b="1" dirty="0"/>
              <a:t>Response</a:t>
            </a:r>
          </a:p>
          <a:p>
            <a:r>
              <a:rPr lang="en-US" sz="2133" dirty="0"/>
              <a:t>These tables are an artificial and significantly simplified version of our data</a:t>
            </a:r>
          </a:p>
          <a:p>
            <a:endParaRPr lang="en-US" sz="2133" dirty="0"/>
          </a:p>
          <a:p>
            <a:pPr marL="0" indent="0">
              <a:buNone/>
            </a:pPr>
            <a:r>
              <a:rPr lang="en-US" sz="2133" dirty="0"/>
              <a:t>Instructions</a:t>
            </a:r>
          </a:p>
          <a:p>
            <a:r>
              <a:rPr lang="en-US" sz="2133" dirty="0"/>
              <a:t>Please merge data according to the description of the data on page 2 and the merging instructions page 3</a:t>
            </a:r>
          </a:p>
          <a:p>
            <a:r>
              <a:rPr lang="en-US" sz="2133" dirty="0"/>
              <a:t>After you have created the data needed for analysis, please analyze the data to answer the questions listed on page 4</a:t>
            </a:r>
          </a:p>
          <a:p>
            <a:endParaRPr lang="en-US" sz="2133" dirty="0"/>
          </a:p>
          <a:p>
            <a:endParaRPr lang="en-US" sz="2133" dirty="0"/>
          </a:p>
          <a:p>
            <a:endParaRPr lang="en-US" sz="2133" dirty="0"/>
          </a:p>
        </p:txBody>
      </p:sp>
    </p:spTree>
    <p:extLst>
      <p:ext uri="{BB962C8B-B14F-4D97-AF65-F5344CB8AC3E}">
        <p14:creationId xmlns:p14="http://schemas.microsoft.com/office/powerpoint/2010/main" val="3730599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Press Ganey Analytics Exercise</a:t>
            </a:r>
            <a:br>
              <a:rPr lang="en-US" sz="2400" dirty="0"/>
            </a:br>
            <a:r>
              <a:rPr lang="en-US" sz="2400" b="1" dirty="0"/>
              <a:t>Description of Tables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55000" lnSpcReduction="20000"/>
          </a:bodyPr>
          <a:lstStyle/>
          <a:p>
            <a:pPr>
              <a:spcBef>
                <a:spcPts val="1067"/>
              </a:spcBef>
            </a:pPr>
            <a:r>
              <a:rPr lang="en-US" sz="2844" b="1" dirty="0"/>
              <a:t>Survey</a:t>
            </a:r>
            <a:r>
              <a:rPr lang="en-US" sz="2844" dirty="0"/>
              <a:t>: Table that identifies, for each completed survey (identified by </a:t>
            </a:r>
            <a:r>
              <a:rPr lang="en-US" sz="2844" dirty="0" err="1">
                <a:latin typeface="Courier" pitchFamily="49" charset="0"/>
              </a:rPr>
              <a:t>SurveyKey</a:t>
            </a:r>
            <a:r>
              <a:rPr lang="en-US" sz="2844" dirty="0"/>
              <a:t> – one for each survey returned), the Mode the survey was conducted in.</a:t>
            </a:r>
          </a:p>
          <a:p>
            <a:pPr>
              <a:spcBef>
                <a:spcPts val="1067"/>
              </a:spcBef>
            </a:pPr>
            <a:r>
              <a:rPr lang="en-US" sz="2844" b="1" dirty="0" err="1"/>
              <a:t>SurveyItem</a:t>
            </a:r>
            <a:r>
              <a:rPr lang="en-US" sz="2844" dirty="0"/>
              <a:t>: Table with fields relevant to content of survey:</a:t>
            </a:r>
          </a:p>
          <a:p>
            <a:pPr lvl="1">
              <a:spcBef>
                <a:spcPts val="1067"/>
              </a:spcBef>
            </a:pPr>
            <a:r>
              <a:rPr lang="en-US" sz="2844" dirty="0" err="1">
                <a:latin typeface="Courier" pitchFamily="49" charset="0"/>
              </a:rPr>
              <a:t>SurveyItemVariable</a:t>
            </a:r>
            <a:r>
              <a:rPr lang="en-US" sz="2844" dirty="0"/>
              <a:t>: Question/rating that respondent is answering</a:t>
            </a:r>
          </a:p>
          <a:p>
            <a:pPr lvl="1">
              <a:spcBef>
                <a:spcPts val="1067"/>
              </a:spcBef>
            </a:pPr>
            <a:r>
              <a:rPr lang="en-US" sz="2844" dirty="0"/>
              <a:t>Survey</a:t>
            </a:r>
          </a:p>
          <a:p>
            <a:pPr lvl="1">
              <a:spcBef>
                <a:spcPts val="1067"/>
              </a:spcBef>
            </a:pPr>
            <a:r>
              <a:rPr lang="en-US" sz="2844" dirty="0" err="1">
                <a:latin typeface="Courier" pitchFamily="49" charset="0"/>
              </a:rPr>
              <a:t>ResponseCode</a:t>
            </a:r>
            <a:r>
              <a:rPr lang="en-US" sz="2844" dirty="0"/>
              <a:t>: Rating scale of item. Many of our survey items ask ordinal response questions (e.g. on a scale to 1 to 5: completely disagree to completely agree), with a higher value being better.</a:t>
            </a:r>
          </a:p>
          <a:p>
            <a:pPr lvl="1">
              <a:spcBef>
                <a:spcPts val="1067"/>
              </a:spcBef>
            </a:pPr>
            <a:r>
              <a:rPr lang="en-US" sz="2844" dirty="0" err="1">
                <a:latin typeface="Courier" pitchFamily="49" charset="0"/>
              </a:rPr>
              <a:t>TopBoxCode</a:t>
            </a:r>
            <a:r>
              <a:rPr lang="en-US" sz="2844" dirty="0"/>
              <a:t>: This is the value for the </a:t>
            </a:r>
            <a:r>
              <a:rPr lang="en-US" sz="2844" dirty="0" err="1"/>
              <a:t>ResponseCode</a:t>
            </a:r>
            <a:r>
              <a:rPr lang="en-US" sz="2844" dirty="0"/>
              <a:t> that we consider “</a:t>
            </a:r>
            <a:r>
              <a:rPr lang="en-US" sz="2844" dirty="0" err="1"/>
              <a:t>TopBox</a:t>
            </a:r>
            <a:r>
              <a:rPr lang="en-US" sz="2844" dirty="0"/>
              <a:t>” – the highest rating.</a:t>
            </a:r>
          </a:p>
          <a:p>
            <a:pPr lvl="1">
              <a:spcBef>
                <a:spcPts val="1067"/>
              </a:spcBef>
            </a:pPr>
            <a:r>
              <a:rPr lang="en-US" sz="2844" dirty="0" err="1">
                <a:latin typeface="Courier" pitchFamily="49" charset="0"/>
              </a:rPr>
              <a:t>SurveyItemReportName</a:t>
            </a:r>
            <a:r>
              <a:rPr lang="en-US" sz="2844" dirty="0"/>
              <a:t>: Brief description of question corresponding to </a:t>
            </a:r>
            <a:r>
              <a:rPr lang="en-US" sz="2844" dirty="0" err="1">
                <a:latin typeface="Courier" pitchFamily="49" charset="0"/>
              </a:rPr>
              <a:t>SurveyItemVariable</a:t>
            </a:r>
            <a:endParaRPr lang="en-US" sz="2844" dirty="0">
              <a:latin typeface="Courier" pitchFamily="49" charset="0"/>
            </a:endParaRPr>
          </a:p>
          <a:p>
            <a:pPr>
              <a:spcBef>
                <a:spcPts val="1067"/>
              </a:spcBef>
            </a:pPr>
            <a:r>
              <a:rPr lang="en-US" sz="2844" b="1" dirty="0"/>
              <a:t>Patient</a:t>
            </a:r>
            <a:r>
              <a:rPr lang="en-US" sz="2844" dirty="0"/>
              <a:t>: Demographics table with </a:t>
            </a:r>
            <a:r>
              <a:rPr lang="en-US" sz="2844" dirty="0" err="1">
                <a:latin typeface="Courier" pitchFamily="49" charset="0"/>
              </a:rPr>
              <a:t>PatientSex</a:t>
            </a:r>
            <a:r>
              <a:rPr lang="en-US" sz="2844" dirty="0"/>
              <a:t> and </a:t>
            </a:r>
            <a:r>
              <a:rPr lang="en-US" sz="2844" dirty="0" err="1">
                <a:latin typeface="Courier" pitchFamily="49" charset="0"/>
              </a:rPr>
              <a:t>PatientBirthDateKey</a:t>
            </a:r>
            <a:r>
              <a:rPr lang="en-US" sz="2844" dirty="0"/>
              <a:t> (all birth-dates changed to January 1). Birthdate is in format YYYYMMDD.</a:t>
            </a:r>
          </a:p>
          <a:p>
            <a:pPr>
              <a:spcBef>
                <a:spcPts val="1067"/>
              </a:spcBef>
            </a:pPr>
            <a:r>
              <a:rPr lang="en-US" sz="2844" b="1" dirty="0"/>
              <a:t>Response</a:t>
            </a:r>
            <a:r>
              <a:rPr lang="en-US" sz="2844" dirty="0"/>
              <a:t>: Table with survey response value (</a:t>
            </a:r>
            <a:r>
              <a:rPr lang="en-US" sz="2844" dirty="0" err="1">
                <a:latin typeface="Courier" pitchFamily="49" charset="0"/>
              </a:rPr>
              <a:t>SurveyResponse</a:t>
            </a:r>
            <a:r>
              <a:rPr lang="en-US" sz="2844" dirty="0"/>
              <a:t>), in a key-value structure; e.g. one row per item, per respondent. Also includes fields used to merge </a:t>
            </a:r>
            <a:r>
              <a:rPr lang="en-US" sz="2844" dirty="0" err="1"/>
              <a:t>with</a:t>
            </a:r>
            <a:r>
              <a:rPr lang="en-US" sz="2844" b="1" dirty="0" err="1"/>
              <a:t>Survey</a:t>
            </a:r>
            <a:r>
              <a:rPr lang="en-US" sz="2844" dirty="0"/>
              <a:t>, </a:t>
            </a:r>
            <a:r>
              <a:rPr lang="en-US" sz="2844" b="1" dirty="0"/>
              <a:t>Patient</a:t>
            </a:r>
            <a:r>
              <a:rPr lang="en-US" sz="2844" dirty="0"/>
              <a:t> and </a:t>
            </a:r>
            <a:r>
              <a:rPr lang="en-US" sz="2844" b="1" dirty="0" err="1"/>
              <a:t>SurveyItem</a:t>
            </a:r>
            <a:r>
              <a:rPr lang="en-US" sz="2844" dirty="0"/>
              <a:t> fields.</a:t>
            </a:r>
          </a:p>
          <a:p>
            <a:pPr marL="0" indent="0">
              <a:spcBef>
                <a:spcPts val="1067"/>
              </a:spcBef>
              <a:buNone/>
            </a:pPr>
            <a:endParaRPr lang="en-US" sz="2844" b="1" dirty="0"/>
          </a:p>
          <a:p>
            <a:pPr lvl="2"/>
            <a:endParaRPr lang="en-US" sz="2844" dirty="0"/>
          </a:p>
          <a:p>
            <a:pPr lvl="2"/>
            <a:endParaRPr lang="en-US" sz="2844" dirty="0"/>
          </a:p>
          <a:p>
            <a:endParaRPr lang="en-US" sz="2844" dirty="0"/>
          </a:p>
          <a:p>
            <a:endParaRPr lang="en-US" sz="2844" dirty="0"/>
          </a:p>
        </p:txBody>
      </p:sp>
    </p:spTree>
    <p:extLst>
      <p:ext uri="{BB962C8B-B14F-4D97-AF65-F5344CB8AC3E}">
        <p14:creationId xmlns:p14="http://schemas.microsoft.com/office/powerpoint/2010/main" val="405519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Press Ganey Analytics Exercise</a:t>
            </a:r>
            <a:br>
              <a:rPr lang="en-US" sz="2400" dirty="0"/>
            </a:br>
            <a:r>
              <a:rPr lang="en-US" sz="2400" b="1" dirty="0"/>
              <a:t>Data Merging Exercise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57200" y="1219200"/>
            <a:ext cx="8229600" cy="4953000"/>
          </a:xfrm>
        </p:spPr>
        <p:txBody>
          <a:bodyPr>
            <a:normAutofit fontScale="475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600"/>
              </a:spcBef>
            </a:pPr>
            <a:r>
              <a:rPr lang="en-US" sz="2133" dirty="0"/>
              <a:t>Please merge </a:t>
            </a:r>
            <a:r>
              <a:rPr lang="en-US" sz="2133" b="1" dirty="0"/>
              <a:t>Survey </a:t>
            </a:r>
            <a:r>
              <a:rPr lang="en-US" sz="2133" dirty="0"/>
              <a:t>to </a:t>
            </a:r>
            <a:r>
              <a:rPr lang="en-US" sz="2133" b="1" dirty="0"/>
              <a:t>Response</a:t>
            </a:r>
            <a:r>
              <a:rPr lang="en-US" sz="2133" dirty="0"/>
              <a:t>, by</a:t>
            </a:r>
            <a:r>
              <a:rPr lang="en-US" sz="2133" dirty="0">
                <a:latin typeface="Courier" pitchFamily="49" charset="0"/>
              </a:rPr>
              <a:t> </a:t>
            </a:r>
            <a:r>
              <a:rPr lang="en-US" sz="2133" dirty="0" err="1">
                <a:latin typeface="Courier" pitchFamily="49" charset="0"/>
              </a:rPr>
              <a:t>ClientKey</a:t>
            </a:r>
            <a:r>
              <a:rPr lang="en-US" sz="2133" dirty="0"/>
              <a:t> and </a:t>
            </a:r>
            <a:r>
              <a:rPr lang="en-US" sz="2133" dirty="0" err="1">
                <a:latin typeface="Courier" pitchFamily="49" charset="0"/>
              </a:rPr>
              <a:t>SurveyKey</a:t>
            </a:r>
            <a:r>
              <a:rPr lang="en-US" sz="2133" dirty="0"/>
              <a:t>, so that </a:t>
            </a:r>
            <a:r>
              <a:rPr lang="en-US" sz="2133" dirty="0" err="1">
                <a:latin typeface="Courier" pitchFamily="49" charset="0"/>
              </a:rPr>
              <a:t>SurveyModeName</a:t>
            </a:r>
            <a:r>
              <a:rPr lang="en-US" sz="2133" dirty="0"/>
              <a:t> is attached to </a:t>
            </a:r>
            <a:r>
              <a:rPr lang="en-US" sz="2133" b="1" dirty="0"/>
              <a:t>Response</a:t>
            </a:r>
            <a:r>
              <a:rPr lang="en-US" sz="2133" dirty="0"/>
              <a:t>. 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</a:pPr>
            <a:r>
              <a:rPr lang="en-US" sz="2133" dirty="0"/>
              <a:t>Please merge </a:t>
            </a:r>
            <a:r>
              <a:rPr lang="en-US" sz="2133" b="1" dirty="0" err="1"/>
              <a:t>SurveyItem</a:t>
            </a:r>
            <a:r>
              <a:rPr lang="en-US" sz="2133" dirty="0"/>
              <a:t> to </a:t>
            </a:r>
            <a:r>
              <a:rPr lang="en-US" sz="2133" b="1" dirty="0"/>
              <a:t>Response</a:t>
            </a:r>
            <a:r>
              <a:rPr lang="en-US" sz="2133" dirty="0"/>
              <a:t>, by</a:t>
            </a:r>
            <a:r>
              <a:rPr lang="en-US" sz="2133" dirty="0">
                <a:latin typeface="Courier" pitchFamily="49" charset="0"/>
              </a:rPr>
              <a:t> </a:t>
            </a:r>
            <a:r>
              <a:rPr lang="en-US" sz="2133" dirty="0" err="1">
                <a:latin typeface="Courier" pitchFamily="49" charset="0"/>
              </a:rPr>
              <a:t>SurveyItemKey</a:t>
            </a:r>
            <a:r>
              <a:rPr lang="en-US" sz="2133" dirty="0"/>
              <a:t>, so that </a:t>
            </a:r>
            <a:r>
              <a:rPr lang="en-US" sz="2133" dirty="0" err="1">
                <a:latin typeface="Courier" pitchFamily="49" charset="0"/>
              </a:rPr>
              <a:t>SurveyItemVariable</a:t>
            </a:r>
            <a:r>
              <a:rPr lang="en-US" sz="2133" dirty="0"/>
              <a:t>, </a:t>
            </a:r>
            <a:r>
              <a:rPr lang="en-US" sz="2133" dirty="0" err="1">
                <a:latin typeface="Courier" pitchFamily="49" charset="0"/>
              </a:rPr>
              <a:t>ResponseCode</a:t>
            </a:r>
            <a:r>
              <a:rPr lang="en-US" sz="2133" dirty="0"/>
              <a:t> and </a:t>
            </a:r>
            <a:r>
              <a:rPr lang="en-US" sz="2133" dirty="0" err="1">
                <a:latin typeface="Courier" pitchFamily="49" charset="0"/>
              </a:rPr>
              <a:t>TopBoxCode</a:t>
            </a:r>
            <a:r>
              <a:rPr lang="en-US" sz="2133" dirty="0"/>
              <a:t> are attached to </a:t>
            </a:r>
            <a:r>
              <a:rPr lang="en-US" sz="2133" b="1" dirty="0"/>
              <a:t>Response</a:t>
            </a:r>
            <a:r>
              <a:rPr lang="en-US" sz="2133" dirty="0"/>
              <a:t>. 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</a:pPr>
            <a:r>
              <a:rPr lang="en-US" sz="2133" dirty="0"/>
              <a:t>Please merge </a:t>
            </a:r>
            <a:r>
              <a:rPr lang="en-US" sz="2133" b="1" dirty="0"/>
              <a:t>Patient</a:t>
            </a:r>
            <a:r>
              <a:rPr lang="en-US" sz="2133" dirty="0"/>
              <a:t> to </a:t>
            </a:r>
            <a:r>
              <a:rPr lang="en-US" sz="2133" b="1" dirty="0"/>
              <a:t>Response</a:t>
            </a:r>
            <a:r>
              <a:rPr lang="en-US" sz="2133" dirty="0"/>
              <a:t>, by</a:t>
            </a:r>
            <a:r>
              <a:rPr lang="en-US" sz="2133" dirty="0">
                <a:latin typeface="Courier" pitchFamily="49" charset="0"/>
              </a:rPr>
              <a:t> </a:t>
            </a:r>
            <a:r>
              <a:rPr lang="en-US" sz="2133" dirty="0" err="1">
                <a:latin typeface="Courier" pitchFamily="49" charset="0"/>
              </a:rPr>
              <a:t>ClientKey</a:t>
            </a:r>
            <a:r>
              <a:rPr lang="en-US" sz="2133" dirty="0"/>
              <a:t> and </a:t>
            </a:r>
            <a:r>
              <a:rPr lang="en-US" sz="2133" dirty="0" err="1">
                <a:latin typeface="Courier" pitchFamily="49" charset="0"/>
              </a:rPr>
              <a:t>PatientKey</a:t>
            </a:r>
            <a:r>
              <a:rPr lang="en-US" sz="2133" dirty="0"/>
              <a:t>, so that </a:t>
            </a:r>
            <a:r>
              <a:rPr lang="en-US" sz="2133" dirty="0" err="1">
                <a:latin typeface="Courier" pitchFamily="49" charset="0"/>
              </a:rPr>
              <a:t>PatientSex</a:t>
            </a:r>
            <a:r>
              <a:rPr lang="en-US" sz="2133" dirty="0"/>
              <a:t> and </a:t>
            </a:r>
            <a:r>
              <a:rPr lang="en-US" sz="2133" dirty="0" err="1">
                <a:latin typeface="Courier" pitchFamily="49" charset="0"/>
              </a:rPr>
              <a:t>PatientBirthDateKey</a:t>
            </a:r>
            <a:r>
              <a:rPr lang="en-US" sz="2133" dirty="0"/>
              <a:t> are attached to </a:t>
            </a:r>
            <a:r>
              <a:rPr lang="en-US" sz="2133" b="1" dirty="0"/>
              <a:t>Response</a:t>
            </a:r>
            <a:r>
              <a:rPr lang="en-US" sz="2133" dirty="0"/>
              <a:t>.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</a:pPr>
            <a:r>
              <a:rPr lang="en-US" sz="2133" dirty="0"/>
              <a:t>You should now have a single table with all fields from all tables merged into one table. Let’s call this table </a:t>
            </a:r>
            <a:r>
              <a:rPr lang="en-US" sz="2133" b="1" dirty="0" err="1"/>
              <a:t>MergedSurvey</a:t>
            </a:r>
            <a:endParaRPr lang="en-US" sz="2133" b="1" dirty="0"/>
          </a:p>
          <a:p>
            <a:pPr marL="457200" indent="-457200">
              <a:lnSpc>
                <a:spcPct val="120000"/>
              </a:lnSpc>
              <a:spcBef>
                <a:spcPts val="600"/>
              </a:spcBef>
            </a:pPr>
            <a:r>
              <a:rPr lang="en-US" sz="2133" dirty="0"/>
              <a:t>Please add the following fields to </a:t>
            </a:r>
            <a:r>
              <a:rPr lang="en-US" sz="2133" b="1" dirty="0" err="1"/>
              <a:t>MergedSurvey</a:t>
            </a:r>
            <a:endParaRPr lang="en-US" sz="2133" b="1" dirty="0"/>
          </a:p>
          <a:p>
            <a:pPr marL="914400" lvl="1" indent="-457200">
              <a:lnSpc>
                <a:spcPct val="120000"/>
              </a:lnSpc>
              <a:spcBef>
                <a:spcPts val="600"/>
              </a:spcBef>
              <a:tabLst>
                <a:tab pos="457200" algn="l"/>
                <a:tab pos="854075" algn="l"/>
              </a:tabLst>
            </a:pPr>
            <a:r>
              <a:rPr lang="en-US" sz="2133" dirty="0">
                <a:latin typeface="Courier" pitchFamily="49" charset="0"/>
              </a:rPr>
              <a:t>Age</a:t>
            </a:r>
            <a:r>
              <a:rPr lang="en-US" sz="2133" dirty="0"/>
              <a:t>: Please create a new field, based on </a:t>
            </a:r>
            <a:r>
              <a:rPr lang="en-US" sz="2133" dirty="0" err="1">
                <a:latin typeface="Courier" pitchFamily="49" charset="0"/>
              </a:rPr>
              <a:t>PatientBirthDateKey</a:t>
            </a:r>
            <a:r>
              <a:rPr lang="en-US" sz="2133" dirty="0" err="1"/>
              <a:t>,that</a:t>
            </a:r>
            <a:r>
              <a:rPr lang="en-US" sz="2133" dirty="0"/>
              <a:t> calculates age, as of 1/1/2016. </a:t>
            </a:r>
          </a:p>
          <a:p>
            <a:pPr marL="914400" lvl="1" indent="-457200">
              <a:lnSpc>
                <a:spcPct val="120000"/>
              </a:lnSpc>
              <a:spcBef>
                <a:spcPts val="600"/>
              </a:spcBef>
              <a:tabLst>
                <a:tab pos="457200" algn="l"/>
                <a:tab pos="854075" algn="l"/>
              </a:tabLst>
            </a:pPr>
            <a:r>
              <a:rPr lang="en-US" sz="2133" dirty="0" err="1">
                <a:latin typeface="Courier" pitchFamily="49" charset="0"/>
              </a:rPr>
              <a:t>AgeGroup</a:t>
            </a:r>
            <a:r>
              <a:rPr lang="en-US" sz="2133" dirty="0"/>
              <a:t>: Please create a new field, based on age, with the following age groups and values: “Age1: &lt; 18”, “Age2: 18-39”, “Age3: 40-64”, “Age4: 65+”</a:t>
            </a:r>
          </a:p>
          <a:p>
            <a:pPr marL="914400" lvl="1" indent="-457200">
              <a:lnSpc>
                <a:spcPct val="120000"/>
              </a:lnSpc>
              <a:spcBef>
                <a:spcPts val="600"/>
              </a:spcBef>
              <a:tabLst>
                <a:tab pos="457200" algn="l"/>
                <a:tab pos="854075" algn="l"/>
              </a:tabLst>
            </a:pPr>
            <a:r>
              <a:rPr lang="en-US" sz="2133" dirty="0" err="1">
                <a:latin typeface="Courier" pitchFamily="49" charset="0"/>
              </a:rPr>
              <a:t>TopBoxFlag</a:t>
            </a:r>
            <a:r>
              <a:rPr lang="en-US" sz="2133" dirty="0" err="1"/>
              <a:t>:Please</a:t>
            </a:r>
            <a:r>
              <a:rPr lang="en-US" sz="2133" dirty="0"/>
              <a:t> create a new field with values of 0 or 1, depending on the </a:t>
            </a:r>
            <a:r>
              <a:rPr lang="en-US" sz="2133" dirty="0" err="1">
                <a:latin typeface="Courier" pitchFamily="49" charset="0"/>
              </a:rPr>
              <a:t>SurveyItem</a:t>
            </a:r>
            <a:r>
              <a:rPr lang="en-US" sz="2133" dirty="0" err="1"/>
              <a:t>’s</a:t>
            </a:r>
            <a:r>
              <a:rPr lang="en-US" sz="2133" dirty="0"/>
              <a:t> </a:t>
            </a:r>
            <a:r>
              <a:rPr lang="en-US" sz="2133" dirty="0" err="1">
                <a:latin typeface="Courier" pitchFamily="49" charset="0"/>
              </a:rPr>
              <a:t>SurveyResponseValue</a:t>
            </a:r>
            <a:r>
              <a:rPr lang="en-US" sz="2133" dirty="0">
                <a:latin typeface="Courier" pitchFamily="49" charset="0"/>
              </a:rPr>
              <a:t> </a:t>
            </a:r>
            <a:r>
              <a:rPr lang="en-US" sz="2133" dirty="0"/>
              <a:t>and </a:t>
            </a:r>
            <a:r>
              <a:rPr lang="en-US" sz="2133" dirty="0" err="1">
                <a:latin typeface="Courier" pitchFamily="49" charset="0"/>
              </a:rPr>
              <a:t>TopBoxCode</a:t>
            </a:r>
            <a:r>
              <a:rPr lang="en-US" sz="2133" dirty="0"/>
              <a:t>: </a:t>
            </a:r>
          </a:p>
          <a:p>
            <a:pPr marL="1371600" lvl="2" indent="-457200">
              <a:lnSpc>
                <a:spcPct val="120000"/>
              </a:lnSpc>
              <a:spcBef>
                <a:spcPts val="600"/>
              </a:spcBef>
            </a:pPr>
            <a:r>
              <a:rPr lang="en-US" sz="2133" dirty="0"/>
              <a:t>If the </a:t>
            </a:r>
            <a:r>
              <a:rPr lang="en-US" sz="2133" dirty="0" err="1">
                <a:latin typeface="Courier" pitchFamily="49" charset="0"/>
              </a:rPr>
              <a:t>SurveyResponseValue</a:t>
            </a:r>
            <a:r>
              <a:rPr lang="en-US" sz="2133" dirty="0">
                <a:latin typeface="Courier" pitchFamily="49" charset="0"/>
              </a:rPr>
              <a:t>=</a:t>
            </a:r>
            <a:r>
              <a:rPr lang="en-US" sz="2133" dirty="0" err="1">
                <a:latin typeface="Courier" pitchFamily="49" charset="0"/>
              </a:rPr>
              <a:t>TopBoxCode</a:t>
            </a:r>
            <a:r>
              <a:rPr lang="en-US" sz="2133" dirty="0"/>
              <a:t>, then the value is 1</a:t>
            </a:r>
          </a:p>
          <a:p>
            <a:pPr marL="1371600" lvl="2" indent="-457200">
              <a:lnSpc>
                <a:spcPct val="120000"/>
              </a:lnSpc>
              <a:spcBef>
                <a:spcPts val="600"/>
              </a:spcBef>
            </a:pPr>
            <a:r>
              <a:rPr lang="en-US" sz="2133" dirty="0"/>
              <a:t>If the </a:t>
            </a:r>
            <a:r>
              <a:rPr lang="en-US" sz="2133" dirty="0" err="1">
                <a:latin typeface="Courier" pitchFamily="49" charset="0"/>
              </a:rPr>
              <a:t>SurveyResponseValue</a:t>
            </a:r>
            <a:r>
              <a:rPr lang="en-US" sz="213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sz="2133" dirty="0" err="1">
                <a:latin typeface="Courier" pitchFamily="49" charset="0"/>
              </a:rPr>
              <a:t>TopBoxCode</a:t>
            </a:r>
            <a:r>
              <a:rPr lang="en-US" sz="2133" dirty="0"/>
              <a:t> and is not NULL, then the value is 0</a:t>
            </a:r>
          </a:p>
          <a:p>
            <a:pPr marL="1371600" lvl="2" indent="-457200">
              <a:lnSpc>
                <a:spcPct val="120000"/>
              </a:lnSpc>
              <a:spcBef>
                <a:spcPts val="600"/>
              </a:spcBef>
            </a:pPr>
            <a:r>
              <a:rPr lang="en-US" sz="2133" dirty="0"/>
              <a:t>If the is NULL, then the value is NULL</a:t>
            </a:r>
          </a:p>
          <a:p>
            <a:pPr marL="203236" indent="-457200">
              <a:lnSpc>
                <a:spcPct val="120000"/>
              </a:lnSpc>
              <a:spcBef>
                <a:spcPts val="600"/>
              </a:spcBef>
              <a:tabLst>
                <a:tab pos="854075" algn="l"/>
              </a:tabLst>
            </a:pPr>
            <a:r>
              <a:rPr lang="en-US" sz="2133" dirty="0"/>
              <a:t>Please re-arrange </a:t>
            </a:r>
            <a:r>
              <a:rPr lang="en-US" sz="2133" b="1" dirty="0" err="1"/>
              <a:t>MergedSurvey</a:t>
            </a:r>
            <a:r>
              <a:rPr lang="en-US" sz="2133" dirty="0"/>
              <a:t> to have one row per </a:t>
            </a:r>
            <a:r>
              <a:rPr lang="en-US" sz="2133" dirty="0" err="1">
                <a:latin typeface="Courier" pitchFamily="49" charset="0"/>
              </a:rPr>
              <a:t>ClientKey</a:t>
            </a:r>
            <a:r>
              <a:rPr lang="en-US" sz="2133" dirty="0"/>
              <a:t>/</a:t>
            </a:r>
            <a:r>
              <a:rPr lang="en-US" sz="2133" dirty="0" err="1">
                <a:latin typeface="Courier" pitchFamily="49" charset="0"/>
              </a:rPr>
              <a:t>PatienKey</a:t>
            </a:r>
            <a:r>
              <a:rPr lang="en-US" sz="2133" dirty="0"/>
              <a:t> key and </a:t>
            </a:r>
          </a:p>
          <a:p>
            <a:pPr marL="914400" lvl="1" indent="-457200">
              <a:lnSpc>
                <a:spcPct val="120000"/>
              </a:lnSpc>
              <a:spcBef>
                <a:spcPts val="600"/>
              </a:spcBef>
              <a:tabLst>
                <a:tab pos="974725" algn="l"/>
              </a:tabLst>
            </a:pPr>
            <a:r>
              <a:rPr lang="en-US" sz="2133" dirty="0"/>
              <a:t>Create separate fields for each </a:t>
            </a:r>
            <a:r>
              <a:rPr lang="en-US" sz="2133" dirty="0" err="1">
                <a:latin typeface="Courier" pitchFamily="49" charset="0"/>
              </a:rPr>
              <a:t>SurveyItemVariable</a:t>
            </a:r>
            <a:r>
              <a:rPr lang="en-US" sz="2133" dirty="0"/>
              <a:t>, where the value for each cell in each field is the value for </a:t>
            </a:r>
            <a:r>
              <a:rPr lang="en-US" sz="2133" dirty="0" err="1">
                <a:latin typeface="Courier" pitchFamily="49" charset="0"/>
              </a:rPr>
              <a:t>TopBoxFlag</a:t>
            </a:r>
            <a:r>
              <a:rPr lang="en-US" sz="2133" dirty="0"/>
              <a:t>, corresponding to that </a:t>
            </a:r>
            <a:r>
              <a:rPr lang="en-US" sz="2133" dirty="0" err="1">
                <a:latin typeface="Courier" pitchFamily="49" charset="0"/>
              </a:rPr>
              <a:t>SurveyItemVariable</a:t>
            </a:r>
            <a:r>
              <a:rPr lang="en-US" sz="2133" dirty="0"/>
              <a:t>. Please name the new fields in correspondence to </a:t>
            </a:r>
            <a:r>
              <a:rPr lang="en-US" sz="2133" dirty="0" err="1">
                <a:latin typeface="Courier" pitchFamily="49" charset="0"/>
              </a:rPr>
              <a:t>SurveyItemReportName</a:t>
            </a:r>
            <a:r>
              <a:rPr lang="en-US" sz="2133" dirty="0"/>
              <a:t>: </a:t>
            </a:r>
            <a:r>
              <a:rPr lang="en-US" sz="2133" dirty="0">
                <a:latin typeface="Courier" pitchFamily="49" charset="0"/>
              </a:rPr>
              <a:t>Q1_Nurses_Friendly; Q2_Nurses_Spent_Time; Q3_Physicians_Friendly; Q4_Physicians_Spent_Time; Q5_Medicine_Instruction; Q6_Clarity_of_Treatment_Plan; Q7_Environment; Q8_Quality_of_Care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</a:pPr>
            <a:r>
              <a:rPr lang="en-US" sz="2133" dirty="0"/>
              <a:t>Please call this new “transposed” table </a:t>
            </a:r>
            <a:r>
              <a:rPr lang="en-US" sz="2133" b="1" dirty="0" err="1"/>
              <a:t>SurveyMatrix</a:t>
            </a:r>
            <a:endParaRPr lang="en-US" sz="2133" b="1" dirty="0"/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tabLst>
                <a:tab pos="396875" algn="l"/>
              </a:tabLst>
            </a:pPr>
            <a:r>
              <a:rPr lang="en-US" sz="2133" dirty="0"/>
              <a:t>Please create a .csv file of </a:t>
            </a:r>
            <a:r>
              <a:rPr lang="en-US" sz="2133" b="1" dirty="0" err="1"/>
              <a:t>SurveyMatrix</a:t>
            </a:r>
            <a:r>
              <a:rPr lang="en-US" sz="2133" dirty="0"/>
              <a:t> to send as part of your solution package</a:t>
            </a:r>
          </a:p>
        </p:txBody>
      </p:sp>
    </p:spTree>
    <p:extLst>
      <p:ext uri="{BB962C8B-B14F-4D97-AF65-F5344CB8AC3E}">
        <p14:creationId xmlns:p14="http://schemas.microsoft.com/office/powerpoint/2010/main" val="1815529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Press Ganey Analytics Exercise</a:t>
            </a:r>
            <a:br>
              <a:rPr lang="en-US" sz="2400" dirty="0"/>
            </a:br>
            <a:r>
              <a:rPr lang="en-US" sz="2400" b="1" dirty="0"/>
              <a:t>Data Analysis Exercise</a:t>
            </a:r>
            <a:endParaRPr lang="en-US" sz="24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b="1" dirty="0"/>
              <a:t>Instructions</a:t>
            </a:r>
            <a:r>
              <a:rPr lang="en-US" sz="1200" dirty="0"/>
              <a:t>: Please lay out your analysis in a PowerPoint report. Please be sure to do so in clear manner, complete with appropriate visualization, statistical results and interpretation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We would like to see at least the following components to your analysis</a:t>
            </a:r>
          </a:p>
          <a:p>
            <a:pPr marL="457200" indent="-457200"/>
            <a:r>
              <a:rPr lang="en-US" sz="1200" dirty="0"/>
              <a:t>Please provide counts of total respondents by </a:t>
            </a:r>
            <a:r>
              <a:rPr lang="en-US" sz="1200" dirty="0">
                <a:latin typeface="Courier" pitchFamily="49" charset="0"/>
              </a:rPr>
              <a:t>Sex</a:t>
            </a:r>
            <a:r>
              <a:rPr lang="en-US" sz="1200" dirty="0"/>
              <a:t> and </a:t>
            </a:r>
            <a:r>
              <a:rPr lang="en-US" sz="1200" dirty="0" err="1">
                <a:latin typeface="Courier" pitchFamily="49" charset="0"/>
              </a:rPr>
              <a:t>AgeGroup</a:t>
            </a:r>
            <a:endParaRPr lang="en-US" sz="1200" dirty="0">
              <a:latin typeface="Courier" pitchFamily="49" charset="0"/>
            </a:endParaRPr>
          </a:p>
          <a:p>
            <a:pPr marL="457200" indent="-457200"/>
            <a:r>
              <a:rPr lang="en-US" sz="1200" dirty="0"/>
              <a:t>Please summarize top box % performance for the survey item </a:t>
            </a:r>
            <a:r>
              <a:rPr lang="en-US" sz="1200" i="1" dirty="0"/>
              <a:t>Quality of Care</a:t>
            </a:r>
            <a:r>
              <a:rPr lang="en-US" sz="1200" dirty="0"/>
              <a:t> by </a:t>
            </a:r>
            <a:r>
              <a:rPr lang="en-US" sz="1200" dirty="0">
                <a:latin typeface="Courier" pitchFamily="49" charset="0"/>
              </a:rPr>
              <a:t>Sex</a:t>
            </a:r>
            <a:r>
              <a:rPr lang="en-US" sz="1200" dirty="0"/>
              <a:t> and </a:t>
            </a:r>
            <a:r>
              <a:rPr lang="en-US" sz="1200" dirty="0" err="1">
                <a:latin typeface="Courier" pitchFamily="49" charset="0"/>
              </a:rPr>
              <a:t>AgeGroup</a:t>
            </a:r>
            <a:endParaRPr lang="en-US" sz="1200" dirty="0">
              <a:latin typeface="Courier" pitchFamily="49" charset="0"/>
            </a:endParaRPr>
          </a:p>
          <a:p>
            <a:pPr marL="203236" indent="-457200"/>
            <a:r>
              <a:rPr lang="en-US" sz="1200" dirty="0"/>
              <a:t>Please summarize top box % performance for each </a:t>
            </a:r>
            <a:r>
              <a:rPr lang="en-US" sz="1200" dirty="0" err="1">
                <a:latin typeface="Courier" pitchFamily="49" charset="0"/>
              </a:rPr>
              <a:t>SurveyItem</a:t>
            </a:r>
            <a:r>
              <a:rPr lang="en-US" sz="1200" dirty="0"/>
              <a:t> by mode </a:t>
            </a:r>
          </a:p>
          <a:p>
            <a:pPr marL="914400" lvl="1" indent="-457200"/>
            <a:r>
              <a:rPr lang="en-US" sz="1200" dirty="0"/>
              <a:t>Are there differences in top box ratings by Mode? </a:t>
            </a:r>
          </a:p>
          <a:p>
            <a:pPr marL="914400" lvl="1" indent="-457200"/>
            <a:r>
              <a:rPr lang="en-US" sz="1200" dirty="0"/>
              <a:t>If so, where and what would you suggest is an explanation for the difference?</a:t>
            </a:r>
          </a:p>
          <a:p>
            <a:pPr marL="203236" indent="-457200"/>
            <a:r>
              <a:rPr lang="en-US" sz="1200" dirty="0"/>
              <a:t>Please analyze the data further tell us more about </a:t>
            </a:r>
            <a:r>
              <a:rPr lang="en-US" sz="1200" i="1" dirty="0"/>
              <a:t>Quality of Care</a:t>
            </a:r>
          </a:p>
          <a:p>
            <a:pPr marL="914400" lvl="1" indent="-457200"/>
            <a:r>
              <a:rPr lang="en-US" sz="1200" dirty="0"/>
              <a:t>What are potential drivers of top-box ratings for Quality of Care?</a:t>
            </a:r>
          </a:p>
          <a:p>
            <a:pPr marL="914400" lvl="1" indent="-457200"/>
            <a:r>
              <a:rPr lang="en-US" sz="1200" dirty="0"/>
              <a:t>Please explain clearly how you arrived at your conclusion</a:t>
            </a:r>
          </a:p>
          <a:p>
            <a:pPr marL="914400" lvl="1" indent="-457200"/>
            <a:r>
              <a:rPr lang="en-US" sz="1200" dirty="0"/>
              <a:t>What would you recommend to a client regarding how these results should be used</a:t>
            </a:r>
          </a:p>
          <a:p>
            <a:pPr marL="914400" lvl="1" indent="-457200"/>
            <a:r>
              <a:rPr lang="en-US" sz="1200" dirty="0"/>
              <a:t>Are there other data sets (or pieces of information/data) you wished were included to better complete your analysis? What and why</a:t>
            </a:r>
          </a:p>
          <a:p>
            <a:pPr marL="203236" indent="-457200"/>
            <a:r>
              <a:rPr lang="en-US" sz="1200" dirty="0"/>
              <a:t>Please feel free to include any additional analyses you think are insightful</a:t>
            </a:r>
          </a:p>
          <a:p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1103549"/>
      </p:ext>
    </p:extLst>
  </p:cSld>
  <p:clrMapOvr>
    <a:masterClrMapping/>
  </p:clrMapOvr>
</p:sld>
</file>

<file path=ppt/theme/theme1.xml><?xml version="1.0" encoding="utf-8"?>
<a:theme xmlns:a="http://schemas.openxmlformats.org/drawingml/2006/main" name="2015_Institute_cobrand_CORPORATE_TEMPLATE">
  <a:themeElements>
    <a:clrScheme name="2015 PG CORP TEMPLATE">
      <a:dk1>
        <a:srgbClr val="000000"/>
      </a:dk1>
      <a:lt1>
        <a:srgbClr val="FFFFFF"/>
      </a:lt1>
      <a:dk2>
        <a:srgbClr val="005295"/>
      </a:dk2>
      <a:lt2>
        <a:srgbClr val="9A8B7D"/>
      </a:lt2>
      <a:accent1>
        <a:srgbClr val="4BAA42"/>
      </a:accent1>
      <a:accent2>
        <a:srgbClr val="6C217F"/>
      </a:accent2>
      <a:accent3>
        <a:srgbClr val="1CBECA"/>
      </a:accent3>
      <a:accent4>
        <a:srgbClr val="FF9231"/>
      </a:accent4>
      <a:accent5>
        <a:srgbClr val="FFE06A"/>
      </a:accent5>
      <a:accent6>
        <a:srgbClr val="87B67B"/>
      </a:accent6>
      <a:hlink>
        <a:srgbClr val="4BAA42"/>
      </a:hlink>
      <a:folHlink>
        <a:srgbClr val="CBC0B7"/>
      </a:folHlink>
    </a:clrScheme>
    <a:fontScheme name="pg">
      <a:majorFont>
        <a:latin typeface="Trebuchet MS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038FE6F701D34A8CCA2287ED0647B6" ma:contentTypeVersion="0" ma:contentTypeDescription="Create a new document." ma:contentTypeScope="" ma:versionID="9d973e70c84ac1447ef535d22ffa656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6EC043C-8D3B-4B22-AEF9-86D209C3AA2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3EA6A2-2241-4A88-9528-3CD09170993A}">
  <ds:schemaRefs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B05B9E6-92F6-48FA-A80A-F2A68065F8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2015_REVISED_CORPORATE_TEMPLATE</Template>
  <TotalTime>12409</TotalTime>
  <Words>835</Words>
  <Application>Microsoft Office PowerPoint</Application>
  <PresentationFormat>On-screen Show (4:3)</PresentationFormat>
  <Paragraphs>55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Calibri</vt:lpstr>
      <vt:lpstr>Courier</vt:lpstr>
      <vt:lpstr>Tahoma</vt:lpstr>
      <vt:lpstr>Times New Roman</vt:lpstr>
      <vt:lpstr>Trebuchet MS</vt:lpstr>
      <vt:lpstr>Wingdings</vt:lpstr>
      <vt:lpstr>2015_Institute_cobrand_CORPORATE_TEMPLATE</vt:lpstr>
      <vt:lpstr>Press Ganey Analytics Exercise</vt:lpstr>
      <vt:lpstr>Press Ganey Analytics Exercise Description of Tables</vt:lpstr>
      <vt:lpstr>Press Ganey Analytics Exercise Data Merging Exercise</vt:lpstr>
      <vt:lpstr>Press Ganey Analytics Exercise Data Analysis Exercise</vt:lpstr>
    </vt:vector>
  </TitlesOfParts>
  <Company>Press Ganey Associates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 Presenter PPT Template</dc:title>
  <dc:creator>Debra Behmlander</dc:creator>
  <cp:lastModifiedBy>Castillo, Sam (Boston)</cp:lastModifiedBy>
  <cp:revision>136</cp:revision>
  <dcterms:created xsi:type="dcterms:W3CDTF">2014-04-30T14:13:52Z</dcterms:created>
  <dcterms:modified xsi:type="dcterms:W3CDTF">2018-12-09T00:35:12Z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0x0101001D038FE6F701D34A8CCA2287ED0647B6</vt:lpwstr>
  </property>
</Properties>
</file>