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2" r:id="rId7"/>
    <p:sldId id="264" r:id="rId8"/>
    <p:sldId id="263"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1A4DE-8EDC-4737-BDB8-249589AD57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CAA9F0B-538F-436F-838F-A11E092229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17EB22-2493-4640-B820-24E93077E8B0}"/>
              </a:ext>
            </a:extLst>
          </p:cNvPr>
          <p:cNvSpPr>
            <a:spLocks noGrp="1"/>
          </p:cNvSpPr>
          <p:nvPr>
            <p:ph type="dt" sz="half" idx="10"/>
          </p:nvPr>
        </p:nvSpPr>
        <p:spPr/>
        <p:txBody>
          <a:bodyPr/>
          <a:lstStyle/>
          <a:p>
            <a:fld id="{CA8E0803-D44F-43E5-9527-AB30AF54B219}" type="datetimeFigureOut">
              <a:rPr lang="en-US" smtClean="0"/>
              <a:t>11/28/2018</a:t>
            </a:fld>
            <a:endParaRPr lang="en-US"/>
          </a:p>
        </p:txBody>
      </p:sp>
      <p:sp>
        <p:nvSpPr>
          <p:cNvPr id="5" name="Footer Placeholder 4">
            <a:extLst>
              <a:ext uri="{FF2B5EF4-FFF2-40B4-BE49-F238E27FC236}">
                <a16:creationId xmlns:a16="http://schemas.microsoft.com/office/drawing/2014/main" id="{CE2A5E73-6208-4D83-B535-89F176845D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682AEE-1DD7-4218-AE8E-0DC11AC4128D}"/>
              </a:ext>
            </a:extLst>
          </p:cNvPr>
          <p:cNvSpPr>
            <a:spLocks noGrp="1"/>
          </p:cNvSpPr>
          <p:nvPr>
            <p:ph type="sldNum" sz="quarter" idx="12"/>
          </p:nvPr>
        </p:nvSpPr>
        <p:spPr/>
        <p:txBody>
          <a:bodyPr/>
          <a:lstStyle/>
          <a:p>
            <a:fld id="{4B72749A-AFC2-4A32-ABF2-476ADFC349D7}" type="slidenum">
              <a:rPr lang="en-US" smtClean="0"/>
              <a:t>‹#›</a:t>
            </a:fld>
            <a:endParaRPr lang="en-US"/>
          </a:p>
        </p:txBody>
      </p:sp>
    </p:spTree>
    <p:extLst>
      <p:ext uri="{BB962C8B-B14F-4D97-AF65-F5344CB8AC3E}">
        <p14:creationId xmlns:p14="http://schemas.microsoft.com/office/powerpoint/2010/main" val="4101034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E8BB-2F20-41A2-A21C-906304304C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AAA8A3-2AFB-4693-AAF3-B69C5189657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04F3E1-DC47-44BE-9777-63448498BCA3}"/>
              </a:ext>
            </a:extLst>
          </p:cNvPr>
          <p:cNvSpPr>
            <a:spLocks noGrp="1"/>
          </p:cNvSpPr>
          <p:nvPr>
            <p:ph type="dt" sz="half" idx="10"/>
          </p:nvPr>
        </p:nvSpPr>
        <p:spPr/>
        <p:txBody>
          <a:bodyPr/>
          <a:lstStyle/>
          <a:p>
            <a:fld id="{CA8E0803-D44F-43E5-9527-AB30AF54B219}" type="datetimeFigureOut">
              <a:rPr lang="en-US" smtClean="0"/>
              <a:t>11/28/2018</a:t>
            </a:fld>
            <a:endParaRPr lang="en-US"/>
          </a:p>
        </p:txBody>
      </p:sp>
      <p:sp>
        <p:nvSpPr>
          <p:cNvPr id="5" name="Footer Placeholder 4">
            <a:extLst>
              <a:ext uri="{FF2B5EF4-FFF2-40B4-BE49-F238E27FC236}">
                <a16:creationId xmlns:a16="http://schemas.microsoft.com/office/drawing/2014/main" id="{E378DC63-2463-4F9D-B183-C68C352ED3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DABC8C-726F-476D-A38D-0344432C069C}"/>
              </a:ext>
            </a:extLst>
          </p:cNvPr>
          <p:cNvSpPr>
            <a:spLocks noGrp="1"/>
          </p:cNvSpPr>
          <p:nvPr>
            <p:ph type="sldNum" sz="quarter" idx="12"/>
          </p:nvPr>
        </p:nvSpPr>
        <p:spPr/>
        <p:txBody>
          <a:bodyPr/>
          <a:lstStyle/>
          <a:p>
            <a:fld id="{4B72749A-AFC2-4A32-ABF2-476ADFC349D7}" type="slidenum">
              <a:rPr lang="en-US" smtClean="0"/>
              <a:t>‹#›</a:t>
            </a:fld>
            <a:endParaRPr lang="en-US"/>
          </a:p>
        </p:txBody>
      </p:sp>
    </p:spTree>
    <p:extLst>
      <p:ext uri="{BB962C8B-B14F-4D97-AF65-F5344CB8AC3E}">
        <p14:creationId xmlns:p14="http://schemas.microsoft.com/office/powerpoint/2010/main" val="572506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0145-75AA-4FAE-9844-F69D61BF5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96381A-F035-42AD-859A-7460E2ABC5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A63ECE-75E4-4A17-BB00-CBBBFA66AC81}"/>
              </a:ext>
            </a:extLst>
          </p:cNvPr>
          <p:cNvSpPr>
            <a:spLocks noGrp="1"/>
          </p:cNvSpPr>
          <p:nvPr>
            <p:ph type="dt" sz="half" idx="10"/>
          </p:nvPr>
        </p:nvSpPr>
        <p:spPr/>
        <p:txBody>
          <a:bodyPr/>
          <a:lstStyle/>
          <a:p>
            <a:fld id="{CA8E0803-D44F-43E5-9527-AB30AF54B219}" type="datetimeFigureOut">
              <a:rPr lang="en-US" smtClean="0"/>
              <a:t>11/28/2018</a:t>
            </a:fld>
            <a:endParaRPr lang="en-US"/>
          </a:p>
        </p:txBody>
      </p:sp>
      <p:sp>
        <p:nvSpPr>
          <p:cNvPr id="5" name="Footer Placeholder 4">
            <a:extLst>
              <a:ext uri="{FF2B5EF4-FFF2-40B4-BE49-F238E27FC236}">
                <a16:creationId xmlns:a16="http://schemas.microsoft.com/office/drawing/2014/main" id="{31972786-F7D5-4966-B302-5FD7D7FF59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FC375C-DB03-4DA2-B051-340D73CDD49E}"/>
              </a:ext>
            </a:extLst>
          </p:cNvPr>
          <p:cNvSpPr>
            <a:spLocks noGrp="1"/>
          </p:cNvSpPr>
          <p:nvPr>
            <p:ph type="sldNum" sz="quarter" idx="12"/>
          </p:nvPr>
        </p:nvSpPr>
        <p:spPr/>
        <p:txBody>
          <a:bodyPr/>
          <a:lstStyle/>
          <a:p>
            <a:fld id="{4B72749A-AFC2-4A32-ABF2-476ADFC349D7}" type="slidenum">
              <a:rPr lang="en-US" smtClean="0"/>
              <a:t>‹#›</a:t>
            </a:fld>
            <a:endParaRPr lang="en-US"/>
          </a:p>
        </p:txBody>
      </p:sp>
    </p:spTree>
    <p:extLst>
      <p:ext uri="{BB962C8B-B14F-4D97-AF65-F5344CB8AC3E}">
        <p14:creationId xmlns:p14="http://schemas.microsoft.com/office/powerpoint/2010/main" val="2215841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43C4-B77F-44E9-949E-42E8639E18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AB5F39-EC92-43D7-B877-48B3943932C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98B7B4-9FB5-4FED-A143-6A38DAAFCCC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821841-63AC-4D87-B670-5917524CEC9E}"/>
              </a:ext>
            </a:extLst>
          </p:cNvPr>
          <p:cNvSpPr>
            <a:spLocks noGrp="1"/>
          </p:cNvSpPr>
          <p:nvPr>
            <p:ph type="dt" sz="half" idx="10"/>
          </p:nvPr>
        </p:nvSpPr>
        <p:spPr/>
        <p:txBody>
          <a:bodyPr/>
          <a:lstStyle/>
          <a:p>
            <a:fld id="{CA8E0803-D44F-43E5-9527-AB30AF54B219}" type="datetimeFigureOut">
              <a:rPr lang="en-US" smtClean="0"/>
              <a:t>11/28/2018</a:t>
            </a:fld>
            <a:endParaRPr lang="en-US"/>
          </a:p>
        </p:txBody>
      </p:sp>
      <p:sp>
        <p:nvSpPr>
          <p:cNvPr id="6" name="Footer Placeholder 5">
            <a:extLst>
              <a:ext uri="{FF2B5EF4-FFF2-40B4-BE49-F238E27FC236}">
                <a16:creationId xmlns:a16="http://schemas.microsoft.com/office/drawing/2014/main" id="{0FA7AD3F-B52B-492B-BA3F-CF83C1E66E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C0C279-9CCF-45C7-9EBF-1721C1478F52}"/>
              </a:ext>
            </a:extLst>
          </p:cNvPr>
          <p:cNvSpPr>
            <a:spLocks noGrp="1"/>
          </p:cNvSpPr>
          <p:nvPr>
            <p:ph type="sldNum" sz="quarter" idx="12"/>
          </p:nvPr>
        </p:nvSpPr>
        <p:spPr/>
        <p:txBody>
          <a:bodyPr/>
          <a:lstStyle/>
          <a:p>
            <a:fld id="{4B72749A-AFC2-4A32-ABF2-476ADFC349D7}" type="slidenum">
              <a:rPr lang="en-US" smtClean="0"/>
              <a:t>‹#›</a:t>
            </a:fld>
            <a:endParaRPr lang="en-US"/>
          </a:p>
        </p:txBody>
      </p:sp>
    </p:spTree>
    <p:extLst>
      <p:ext uri="{BB962C8B-B14F-4D97-AF65-F5344CB8AC3E}">
        <p14:creationId xmlns:p14="http://schemas.microsoft.com/office/powerpoint/2010/main" val="438460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6038D-C1EA-46FB-BE34-7E9668F77FB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C2B68C-6185-48AF-926D-CD44CC5D70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D8539EF-F3D0-4AF1-96E1-9F8757DCF41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7413A2-F262-4DE7-8956-7B3AA0F8D5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82DB817-AA14-4821-B972-07459B6B97A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4D8179-3ECF-4B91-971C-B593F80CF20B}"/>
              </a:ext>
            </a:extLst>
          </p:cNvPr>
          <p:cNvSpPr>
            <a:spLocks noGrp="1"/>
          </p:cNvSpPr>
          <p:nvPr>
            <p:ph type="dt" sz="half" idx="10"/>
          </p:nvPr>
        </p:nvSpPr>
        <p:spPr/>
        <p:txBody>
          <a:bodyPr/>
          <a:lstStyle/>
          <a:p>
            <a:fld id="{CA8E0803-D44F-43E5-9527-AB30AF54B219}" type="datetimeFigureOut">
              <a:rPr lang="en-US" smtClean="0"/>
              <a:t>11/28/2018</a:t>
            </a:fld>
            <a:endParaRPr lang="en-US"/>
          </a:p>
        </p:txBody>
      </p:sp>
      <p:sp>
        <p:nvSpPr>
          <p:cNvPr id="8" name="Footer Placeholder 7">
            <a:extLst>
              <a:ext uri="{FF2B5EF4-FFF2-40B4-BE49-F238E27FC236}">
                <a16:creationId xmlns:a16="http://schemas.microsoft.com/office/drawing/2014/main" id="{2FE0FFF6-4900-425B-B485-1B0E53774C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9B9D40-6A2C-4CCD-8C52-FF88A7534EB8}"/>
              </a:ext>
            </a:extLst>
          </p:cNvPr>
          <p:cNvSpPr>
            <a:spLocks noGrp="1"/>
          </p:cNvSpPr>
          <p:nvPr>
            <p:ph type="sldNum" sz="quarter" idx="12"/>
          </p:nvPr>
        </p:nvSpPr>
        <p:spPr/>
        <p:txBody>
          <a:bodyPr/>
          <a:lstStyle/>
          <a:p>
            <a:fld id="{4B72749A-AFC2-4A32-ABF2-476ADFC349D7}" type="slidenum">
              <a:rPr lang="en-US" smtClean="0"/>
              <a:t>‹#›</a:t>
            </a:fld>
            <a:endParaRPr lang="en-US"/>
          </a:p>
        </p:txBody>
      </p:sp>
    </p:spTree>
    <p:extLst>
      <p:ext uri="{BB962C8B-B14F-4D97-AF65-F5344CB8AC3E}">
        <p14:creationId xmlns:p14="http://schemas.microsoft.com/office/powerpoint/2010/main" val="2566092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CE927-9A7F-4D16-A438-C0BEDAAD7F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ED88A93-0E7E-4E31-9F2C-6AC8F091A4C1}"/>
              </a:ext>
            </a:extLst>
          </p:cNvPr>
          <p:cNvSpPr>
            <a:spLocks noGrp="1"/>
          </p:cNvSpPr>
          <p:nvPr>
            <p:ph type="dt" sz="half" idx="10"/>
          </p:nvPr>
        </p:nvSpPr>
        <p:spPr/>
        <p:txBody>
          <a:bodyPr/>
          <a:lstStyle/>
          <a:p>
            <a:fld id="{CA8E0803-D44F-43E5-9527-AB30AF54B219}" type="datetimeFigureOut">
              <a:rPr lang="en-US" smtClean="0"/>
              <a:t>11/28/2018</a:t>
            </a:fld>
            <a:endParaRPr lang="en-US"/>
          </a:p>
        </p:txBody>
      </p:sp>
      <p:sp>
        <p:nvSpPr>
          <p:cNvPr id="4" name="Footer Placeholder 3">
            <a:extLst>
              <a:ext uri="{FF2B5EF4-FFF2-40B4-BE49-F238E27FC236}">
                <a16:creationId xmlns:a16="http://schemas.microsoft.com/office/drawing/2014/main" id="{13A5B300-3F90-40A9-B76B-FE009006DA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6B93BA5-6716-48EB-81FC-9E929E1C726B}"/>
              </a:ext>
            </a:extLst>
          </p:cNvPr>
          <p:cNvSpPr>
            <a:spLocks noGrp="1"/>
          </p:cNvSpPr>
          <p:nvPr>
            <p:ph type="sldNum" sz="quarter" idx="12"/>
          </p:nvPr>
        </p:nvSpPr>
        <p:spPr/>
        <p:txBody>
          <a:bodyPr/>
          <a:lstStyle/>
          <a:p>
            <a:fld id="{4B72749A-AFC2-4A32-ABF2-476ADFC349D7}" type="slidenum">
              <a:rPr lang="en-US" smtClean="0"/>
              <a:t>‹#›</a:t>
            </a:fld>
            <a:endParaRPr lang="en-US"/>
          </a:p>
        </p:txBody>
      </p:sp>
    </p:spTree>
    <p:extLst>
      <p:ext uri="{BB962C8B-B14F-4D97-AF65-F5344CB8AC3E}">
        <p14:creationId xmlns:p14="http://schemas.microsoft.com/office/powerpoint/2010/main" val="2887856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D71130-0CD0-47B8-9388-CF4845E8ED84}"/>
              </a:ext>
            </a:extLst>
          </p:cNvPr>
          <p:cNvSpPr>
            <a:spLocks noGrp="1"/>
          </p:cNvSpPr>
          <p:nvPr>
            <p:ph type="dt" sz="half" idx="10"/>
          </p:nvPr>
        </p:nvSpPr>
        <p:spPr/>
        <p:txBody>
          <a:bodyPr/>
          <a:lstStyle/>
          <a:p>
            <a:fld id="{CA8E0803-D44F-43E5-9527-AB30AF54B219}" type="datetimeFigureOut">
              <a:rPr lang="en-US" smtClean="0"/>
              <a:t>11/28/2018</a:t>
            </a:fld>
            <a:endParaRPr lang="en-US"/>
          </a:p>
        </p:txBody>
      </p:sp>
      <p:sp>
        <p:nvSpPr>
          <p:cNvPr id="3" name="Footer Placeholder 2">
            <a:extLst>
              <a:ext uri="{FF2B5EF4-FFF2-40B4-BE49-F238E27FC236}">
                <a16:creationId xmlns:a16="http://schemas.microsoft.com/office/drawing/2014/main" id="{3C6DF04C-8AED-4DD0-AEE1-247DD9B3D3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602BE8-6C54-4B5E-858F-653E0532A279}"/>
              </a:ext>
            </a:extLst>
          </p:cNvPr>
          <p:cNvSpPr>
            <a:spLocks noGrp="1"/>
          </p:cNvSpPr>
          <p:nvPr>
            <p:ph type="sldNum" sz="quarter" idx="12"/>
          </p:nvPr>
        </p:nvSpPr>
        <p:spPr/>
        <p:txBody>
          <a:bodyPr/>
          <a:lstStyle/>
          <a:p>
            <a:fld id="{4B72749A-AFC2-4A32-ABF2-476ADFC349D7}" type="slidenum">
              <a:rPr lang="en-US" smtClean="0"/>
              <a:t>‹#›</a:t>
            </a:fld>
            <a:endParaRPr lang="en-US"/>
          </a:p>
        </p:txBody>
      </p:sp>
    </p:spTree>
    <p:extLst>
      <p:ext uri="{BB962C8B-B14F-4D97-AF65-F5344CB8AC3E}">
        <p14:creationId xmlns:p14="http://schemas.microsoft.com/office/powerpoint/2010/main" val="1965908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87BE0-C520-4A95-B406-FA032B8E24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2D04EDE-C741-420D-B580-B7721BADFB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BBBD66-25D5-4D47-8D7F-1146FAF2C1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0F93A29-721E-40E8-8BE1-4FE5B613684C}"/>
              </a:ext>
            </a:extLst>
          </p:cNvPr>
          <p:cNvSpPr>
            <a:spLocks noGrp="1"/>
          </p:cNvSpPr>
          <p:nvPr>
            <p:ph type="dt" sz="half" idx="10"/>
          </p:nvPr>
        </p:nvSpPr>
        <p:spPr/>
        <p:txBody>
          <a:bodyPr/>
          <a:lstStyle/>
          <a:p>
            <a:fld id="{CA8E0803-D44F-43E5-9527-AB30AF54B219}" type="datetimeFigureOut">
              <a:rPr lang="en-US" smtClean="0"/>
              <a:t>11/28/2018</a:t>
            </a:fld>
            <a:endParaRPr lang="en-US"/>
          </a:p>
        </p:txBody>
      </p:sp>
      <p:sp>
        <p:nvSpPr>
          <p:cNvPr id="6" name="Footer Placeholder 5">
            <a:extLst>
              <a:ext uri="{FF2B5EF4-FFF2-40B4-BE49-F238E27FC236}">
                <a16:creationId xmlns:a16="http://schemas.microsoft.com/office/drawing/2014/main" id="{94E44BB0-3858-48C6-AE4F-67379E9B15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EFC51C-30D7-431E-9C42-F71AF77D33D4}"/>
              </a:ext>
            </a:extLst>
          </p:cNvPr>
          <p:cNvSpPr>
            <a:spLocks noGrp="1"/>
          </p:cNvSpPr>
          <p:nvPr>
            <p:ph type="sldNum" sz="quarter" idx="12"/>
          </p:nvPr>
        </p:nvSpPr>
        <p:spPr/>
        <p:txBody>
          <a:bodyPr/>
          <a:lstStyle/>
          <a:p>
            <a:fld id="{4B72749A-AFC2-4A32-ABF2-476ADFC349D7}" type="slidenum">
              <a:rPr lang="en-US" smtClean="0"/>
              <a:t>‹#›</a:t>
            </a:fld>
            <a:endParaRPr lang="en-US"/>
          </a:p>
        </p:txBody>
      </p:sp>
    </p:spTree>
    <p:extLst>
      <p:ext uri="{BB962C8B-B14F-4D97-AF65-F5344CB8AC3E}">
        <p14:creationId xmlns:p14="http://schemas.microsoft.com/office/powerpoint/2010/main" val="693965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03F8F-AEFC-4DAB-9066-F1D830BEE1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A8CA56-68B6-44B5-AF7F-2DD6DB9065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BED0DD-F533-408D-B1D2-674931C04D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F6347D8-0FAA-412C-B48D-B27EF32CDB88}"/>
              </a:ext>
            </a:extLst>
          </p:cNvPr>
          <p:cNvSpPr>
            <a:spLocks noGrp="1"/>
          </p:cNvSpPr>
          <p:nvPr>
            <p:ph type="dt" sz="half" idx="10"/>
          </p:nvPr>
        </p:nvSpPr>
        <p:spPr/>
        <p:txBody>
          <a:bodyPr/>
          <a:lstStyle/>
          <a:p>
            <a:fld id="{CA8E0803-D44F-43E5-9527-AB30AF54B219}" type="datetimeFigureOut">
              <a:rPr lang="en-US" smtClean="0"/>
              <a:t>11/28/2018</a:t>
            </a:fld>
            <a:endParaRPr lang="en-US"/>
          </a:p>
        </p:txBody>
      </p:sp>
      <p:sp>
        <p:nvSpPr>
          <p:cNvPr id="6" name="Footer Placeholder 5">
            <a:extLst>
              <a:ext uri="{FF2B5EF4-FFF2-40B4-BE49-F238E27FC236}">
                <a16:creationId xmlns:a16="http://schemas.microsoft.com/office/drawing/2014/main" id="{8ABCE93A-4BC3-4635-B418-CA70EE8BA8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FB7F12-046D-4D50-87FC-26DCF052F657}"/>
              </a:ext>
            </a:extLst>
          </p:cNvPr>
          <p:cNvSpPr>
            <a:spLocks noGrp="1"/>
          </p:cNvSpPr>
          <p:nvPr>
            <p:ph type="sldNum" sz="quarter" idx="12"/>
          </p:nvPr>
        </p:nvSpPr>
        <p:spPr/>
        <p:txBody>
          <a:bodyPr/>
          <a:lstStyle/>
          <a:p>
            <a:fld id="{4B72749A-AFC2-4A32-ABF2-476ADFC349D7}" type="slidenum">
              <a:rPr lang="en-US" smtClean="0"/>
              <a:t>‹#›</a:t>
            </a:fld>
            <a:endParaRPr lang="en-US"/>
          </a:p>
        </p:txBody>
      </p:sp>
    </p:spTree>
    <p:extLst>
      <p:ext uri="{BB962C8B-B14F-4D97-AF65-F5344CB8AC3E}">
        <p14:creationId xmlns:p14="http://schemas.microsoft.com/office/powerpoint/2010/main" val="3940787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18C88-3D1E-460F-9A38-AB318DE87F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DEDFBE-9910-4689-BB34-7906E7BBBED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C4258D-A801-4B1A-8924-F257226A915F}"/>
              </a:ext>
            </a:extLst>
          </p:cNvPr>
          <p:cNvSpPr>
            <a:spLocks noGrp="1"/>
          </p:cNvSpPr>
          <p:nvPr>
            <p:ph type="dt" sz="half" idx="10"/>
          </p:nvPr>
        </p:nvSpPr>
        <p:spPr/>
        <p:txBody>
          <a:bodyPr/>
          <a:lstStyle/>
          <a:p>
            <a:fld id="{CA8E0803-D44F-43E5-9527-AB30AF54B219}" type="datetimeFigureOut">
              <a:rPr lang="en-US" smtClean="0"/>
              <a:t>11/28/2018</a:t>
            </a:fld>
            <a:endParaRPr lang="en-US"/>
          </a:p>
        </p:txBody>
      </p:sp>
      <p:sp>
        <p:nvSpPr>
          <p:cNvPr id="5" name="Footer Placeholder 4">
            <a:extLst>
              <a:ext uri="{FF2B5EF4-FFF2-40B4-BE49-F238E27FC236}">
                <a16:creationId xmlns:a16="http://schemas.microsoft.com/office/drawing/2014/main" id="{BC3DE959-7270-489F-8765-BD7C596628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84D8FA-AFA5-4D5D-96D5-97D1684E5BE5}"/>
              </a:ext>
            </a:extLst>
          </p:cNvPr>
          <p:cNvSpPr>
            <a:spLocks noGrp="1"/>
          </p:cNvSpPr>
          <p:nvPr>
            <p:ph type="sldNum" sz="quarter" idx="12"/>
          </p:nvPr>
        </p:nvSpPr>
        <p:spPr/>
        <p:txBody>
          <a:bodyPr/>
          <a:lstStyle/>
          <a:p>
            <a:fld id="{4B72749A-AFC2-4A32-ABF2-476ADFC349D7}" type="slidenum">
              <a:rPr lang="en-US" smtClean="0"/>
              <a:t>‹#›</a:t>
            </a:fld>
            <a:endParaRPr lang="en-US"/>
          </a:p>
        </p:txBody>
      </p:sp>
    </p:spTree>
    <p:extLst>
      <p:ext uri="{BB962C8B-B14F-4D97-AF65-F5344CB8AC3E}">
        <p14:creationId xmlns:p14="http://schemas.microsoft.com/office/powerpoint/2010/main" val="3659245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04664F-9059-411F-B2AB-9304D66FFF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33DC8B-DF70-4B27-841E-03FD7C2D573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DBCAE4-A61B-4078-83FB-6E1FED292AF1}"/>
              </a:ext>
            </a:extLst>
          </p:cNvPr>
          <p:cNvSpPr>
            <a:spLocks noGrp="1"/>
          </p:cNvSpPr>
          <p:nvPr>
            <p:ph type="dt" sz="half" idx="10"/>
          </p:nvPr>
        </p:nvSpPr>
        <p:spPr/>
        <p:txBody>
          <a:bodyPr/>
          <a:lstStyle/>
          <a:p>
            <a:fld id="{CA8E0803-D44F-43E5-9527-AB30AF54B219}" type="datetimeFigureOut">
              <a:rPr lang="en-US" smtClean="0"/>
              <a:t>11/28/2018</a:t>
            </a:fld>
            <a:endParaRPr lang="en-US"/>
          </a:p>
        </p:txBody>
      </p:sp>
      <p:sp>
        <p:nvSpPr>
          <p:cNvPr id="5" name="Footer Placeholder 4">
            <a:extLst>
              <a:ext uri="{FF2B5EF4-FFF2-40B4-BE49-F238E27FC236}">
                <a16:creationId xmlns:a16="http://schemas.microsoft.com/office/drawing/2014/main" id="{4FC278E9-65DA-4505-8E18-DF5F07E66E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81020-1411-4486-AED9-437F83438544}"/>
              </a:ext>
            </a:extLst>
          </p:cNvPr>
          <p:cNvSpPr>
            <a:spLocks noGrp="1"/>
          </p:cNvSpPr>
          <p:nvPr>
            <p:ph type="sldNum" sz="quarter" idx="12"/>
          </p:nvPr>
        </p:nvSpPr>
        <p:spPr/>
        <p:txBody>
          <a:bodyPr/>
          <a:lstStyle/>
          <a:p>
            <a:fld id="{4B72749A-AFC2-4A32-ABF2-476ADFC349D7}" type="slidenum">
              <a:rPr lang="en-US" smtClean="0"/>
              <a:t>‹#›</a:t>
            </a:fld>
            <a:endParaRPr lang="en-US"/>
          </a:p>
        </p:txBody>
      </p:sp>
    </p:spTree>
    <p:extLst>
      <p:ext uri="{BB962C8B-B14F-4D97-AF65-F5344CB8AC3E}">
        <p14:creationId xmlns:p14="http://schemas.microsoft.com/office/powerpoint/2010/main" val="3579418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006353-566C-4614-B147-B8584267E9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57C75C-6855-4F02-AEDF-2C4934548E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B2AA4B-BD84-4F92-B6D0-BD9BC2A1EC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8E0803-D44F-43E5-9527-AB30AF54B219}" type="datetimeFigureOut">
              <a:rPr lang="en-US" smtClean="0"/>
              <a:t>11/28/2018</a:t>
            </a:fld>
            <a:endParaRPr lang="en-US"/>
          </a:p>
        </p:txBody>
      </p:sp>
      <p:sp>
        <p:nvSpPr>
          <p:cNvPr id="5" name="Footer Placeholder 4">
            <a:extLst>
              <a:ext uri="{FF2B5EF4-FFF2-40B4-BE49-F238E27FC236}">
                <a16:creationId xmlns:a16="http://schemas.microsoft.com/office/drawing/2014/main" id="{E1DA3AF2-9F3E-4A0A-B80F-AADF5A75D7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9DE2DD0-91C4-4C36-A0AF-D3DCB72E38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72749A-AFC2-4A32-ABF2-476ADFC349D7}" type="slidenum">
              <a:rPr lang="en-US" smtClean="0"/>
              <a:t>‹#›</a:t>
            </a:fld>
            <a:endParaRPr lang="en-US"/>
          </a:p>
        </p:txBody>
      </p:sp>
    </p:spTree>
    <p:extLst>
      <p:ext uri="{BB962C8B-B14F-4D97-AF65-F5344CB8AC3E}">
        <p14:creationId xmlns:p14="http://schemas.microsoft.com/office/powerpoint/2010/main" val="1461503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0600-2DD8-408B-9828-802FCF217D8F}"/>
              </a:ext>
            </a:extLst>
          </p:cNvPr>
          <p:cNvSpPr>
            <a:spLocks noGrp="1"/>
          </p:cNvSpPr>
          <p:nvPr>
            <p:ph type="ctrTitle"/>
          </p:nvPr>
        </p:nvSpPr>
        <p:spPr/>
        <p:txBody>
          <a:bodyPr/>
          <a:lstStyle/>
          <a:p>
            <a:r>
              <a:rPr lang="en-US" dirty="0"/>
              <a:t>Let me tell you about myself</a:t>
            </a:r>
          </a:p>
        </p:txBody>
      </p:sp>
      <p:sp>
        <p:nvSpPr>
          <p:cNvPr id="3" name="Subtitle 2">
            <a:extLst>
              <a:ext uri="{FF2B5EF4-FFF2-40B4-BE49-F238E27FC236}">
                <a16:creationId xmlns:a16="http://schemas.microsoft.com/office/drawing/2014/main" id="{3AB951C4-0A06-46F0-A28E-FE8A6FEFC277}"/>
              </a:ext>
            </a:extLst>
          </p:cNvPr>
          <p:cNvSpPr>
            <a:spLocks noGrp="1"/>
          </p:cNvSpPr>
          <p:nvPr>
            <p:ph type="subTitle" idx="1"/>
          </p:nvPr>
        </p:nvSpPr>
        <p:spPr/>
        <p:txBody>
          <a:bodyPr/>
          <a:lstStyle/>
          <a:p>
            <a:r>
              <a:rPr lang="en-US" dirty="0"/>
              <a:t>Press Ganey Data Scientist</a:t>
            </a:r>
          </a:p>
        </p:txBody>
      </p:sp>
    </p:spTree>
    <p:extLst>
      <p:ext uri="{BB962C8B-B14F-4D97-AF65-F5344CB8AC3E}">
        <p14:creationId xmlns:p14="http://schemas.microsoft.com/office/powerpoint/2010/main" val="1779710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0600-2DD8-408B-9828-802FCF217D8F}"/>
              </a:ext>
            </a:extLst>
          </p:cNvPr>
          <p:cNvSpPr>
            <a:spLocks noGrp="1"/>
          </p:cNvSpPr>
          <p:nvPr>
            <p:ph type="ctrTitle"/>
          </p:nvPr>
        </p:nvSpPr>
        <p:spPr>
          <a:xfrm>
            <a:off x="875071" y="502931"/>
            <a:ext cx="9144000" cy="824424"/>
          </a:xfrm>
        </p:spPr>
        <p:txBody>
          <a:bodyPr>
            <a:normAutofit fontScale="90000"/>
          </a:bodyPr>
          <a:lstStyle/>
          <a:p>
            <a:pPr algn="l"/>
            <a:r>
              <a:rPr lang="en-US" dirty="0"/>
              <a:t>What I currently do</a:t>
            </a:r>
          </a:p>
        </p:txBody>
      </p:sp>
      <p:sp>
        <p:nvSpPr>
          <p:cNvPr id="5" name="Subtitle 4">
            <a:extLst>
              <a:ext uri="{FF2B5EF4-FFF2-40B4-BE49-F238E27FC236}">
                <a16:creationId xmlns:a16="http://schemas.microsoft.com/office/drawing/2014/main" id="{2DA1BEC5-4FB5-4DA5-BF5A-72112E830731}"/>
              </a:ext>
            </a:extLst>
          </p:cNvPr>
          <p:cNvSpPr>
            <a:spLocks noGrp="1"/>
          </p:cNvSpPr>
          <p:nvPr>
            <p:ph type="subTitle" idx="1"/>
          </p:nvPr>
        </p:nvSpPr>
        <p:spPr>
          <a:xfrm>
            <a:off x="1012722" y="1327354"/>
            <a:ext cx="9144000" cy="4886633"/>
          </a:xfrm>
        </p:spPr>
        <p:txBody>
          <a:bodyPr>
            <a:normAutofit/>
          </a:bodyPr>
          <a:lstStyle/>
          <a:p>
            <a:pPr marL="342900" indent="-342900" algn="l">
              <a:buFont typeface="Arial" panose="020B0604020202020204" pitchFamily="34" charset="0"/>
              <a:buChar char="•"/>
            </a:pPr>
            <a:r>
              <a:rPr lang="en-US" dirty="0"/>
              <a:t>Data Architect/data analyst/data scientist</a:t>
            </a:r>
          </a:p>
          <a:p>
            <a:pPr marL="800100" lvl="1" indent="-342900" algn="l">
              <a:buFont typeface="Arial" panose="020B0604020202020204" pitchFamily="34" charset="0"/>
              <a:buChar char="•"/>
            </a:pPr>
            <a:r>
              <a:rPr lang="en-US" dirty="0"/>
              <a:t>Work with actuarial team of about 10 as a developer/programmer</a:t>
            </a:r>
          </a:p>
          <a:p>
            <a:pPr marL="800100" lvl="1" indent="-342900" algn="l">
              <a:buFont typeface="Arial" panose="020B0604020202020204" pitchFamily="34" charset="0"/>
              <a:buChar char="•"/>
            </a:pPr>
            <a:r>
              <a:rPr lang="en-US" dirty="0"/>
              <a:t>Support clients in hospitality and airlines industries </a:t>
            </a:r>
          </a:p>
          <a:p>
            <a:pPr marL="1257300" lvl="2" indent="-342900" algn="l">
              <a:buFont typeface="Arial" panose="020B0604020202020204" pitchFamily="34" charset="0"/>
              <a:buChar char="•"/>
            </a:pPr>
            <a:r>
              <a:rPr lang="en-US" dirty="0"/>
              <a:t>Liability valuation (Billions of $$$)</a:t>
            </a:r>
          </a:p>
          <a:p>
            <a:pPr marL="1257300" lvl="2" indent="-342900" algn="l">
              <a:buFont typeface="Arial" panose="020B0604020202020204" pitchFamily="34" charset="0"/>
              <a:buChar char="•"/>
            </a:pPr>
            <a:r>
              <a:rPr lang="en-US" dirty="0"/>
              <a:t>Marketing insights (transactional data)</a:t>
            </a:r>
          </a:p>
          <a:p>
            <a:pPr marL="800100" lvl="1" indent="-342900" algn="l">
              <a:buFont typeface="Arial" panose="020B0604020202020204" pitchFamily="34" charset="0"/>
              <a:buChar char="•"/>
            </a:pPr>
            <a:r>
              <a:rPr lang="en-US" dirty="0"/>
              <a:t>Work with a diverse team from California to Mexico city, from Director level to analyst level</a:t>
            </a:r>
          </a:p>
          <a:p>
            <a:pPr marL="800100" lvl="1"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Strong technical background</a:t>
            </a:r>
          </a:p>
          <a:p>
            <a:pPr marL="800100" lvl="1" indent="-342900" algn="l">
              <a:buFont typeface="Arial" panose="020B0604020202020204" pitchFamily="34" charset="0"/>
              <a:buChar char="•"/>
            </a:pPr>
            <a:r>
              <a:rPr lang="en-US" dirty="0"/>
              <a:t>Working in SQL to manage big data pipelines (100’s of terabytes on AWS)</a:t>
            </a:r>
          </a:p>
          <a:p>
            <a:pPr marL="800100" lvl="1" indent="-342900" algn="l">
              <a:buFont typeface="Arial" panose="020B0604020202020204" pitchFamily="34" charset="0"/>
              <a:buChar char="•"/>
            </a:pPr>
            <a:r>
              <a:rPr lang="en-US" dirty="0"/>
              <a:t>Predictive modeling (clustering, decision trees, GLMs)</a:t>
            </a:r>
          </a:p>
          <a:p>
            <a:pPr marL="800100" lvl="1" indent="-342900" algn="l">
              <a:buFont typeface="Arial" panose="020B0604020202020204" pitchFamily="34" charset="0"/>
              <a:buChar char="•"/>
            </a:pPr>
            <a:endParaRPr lang="en-US" dirty="0"/>
          </a:p>
        </p:txBody>
      </p:sp>
    </p:spTree>
    <p:extLst>
      <p:ext uri="{BB962C8B-B14F-4D97-AF65-F5344CB8AC3E}">
        <p14:creationId xmlns:p14="http://schemas.microsoft.com/office/powerpoint/2010/main" val="3193045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0600-2DD8-408B-9828-802FCF217D8F}"/>
              </a:ext>
            </a:extLst>
          </p:cNvPr>
          <p:cNvSpPr>
            <a:spLocks noGrp="1"/>
          </p:cNvSpPr>
          <p:nvPr>
            <p:ph type="ctrTitle"/>
          </p:nvPr>
        </p:nvSpPr>
        <p:spPr>
          <a:xfrm>
            <a:off x="875071" y="502931"/>
            <a:ext cx="9144000" cy="824424"/>
          </a:xfrm>
        </p:spPr>
        <p:txBody>
          <a:bodyPr>
            <a:normAutofit fontScale="90000"/>
          </a:bodyPr>
          <a:lstStyle/>
          <a:p>
            <a:pPr algn="l"/>
            <a:r>
              <a:rPr lang="en-US" dirty="0"/>
              <a:t>Why I’m interested</a:t>
            </a:r>
          </a:p>
        </p:txBody>
      </p:sp>
      <p:sp>
        <p:nvSpPr>
          <p:cNvPr id="5" name="Subtitle 4">
            <a:extLst>
              <a:ext uri="{FF2B5EF4-FFF2-40B4-BE49-F238E27FC236}">
                <a16:creationId xmlns:a16="http://schemas.microsoft.com/office/drawing/2014/main" id="{2DA1BEC5-4FB5-4DA5-BF5A-72112E830731}"/>
              </a:ext>
            </a:extLst>
          </p:cNvPr>
          <p:cNvSpPr>
            <a:spLocks noGrp="1"/>
          </p:cNvSpPr>
          <p:nvPr>
            <p:ph type="subTitle" idx="1"/>
          </p:nvPr>
        </p:nvSpPr>
        <p:spPr>
          <a:xfrm>
            <a:off x="1012722" y="1327354"/>
            <a:ext cx="9144000" cy="5319252"/>
          </a:xfrm>
        </p:spPr>
        <p:txBody>
          <a:bodyPr>
            <a:normAutofit/>
          </a:bodyPr>
          <a:lstStyle/>
          <a:p>
            <a:pPr marL="342900" indent="-342900" algn="l">
              <a:buFont typeface="Arial" panose="020B0604020202020204" pitchFamily="34" charset="0"/>
              <a:buChar char="•"/>
            </a:pPr>
            <a:r>
              <a:rPr lang="en-US" dirty="0"/>
              <a:t>Press Ganey is the industry leader in healthcare analytics</a:t>
            </a:r>
          </a:p>
          <a:p>
            <a:pPr marL="800100" lvl="1" indent="-342900" algn="l">
              <a:buFont typeface="Arial" panose="020B0604020202020204" pitchFamily="34" charset="0"/>
              <a:buChar char="•"/>
            </a:pPr>
            <a:r>
              <a:rPr lang="en-US" dirty="0"/>
              <a:t>30,000 organizations</a:t>
            </a:r>
          </a:p>
          <a:p>
            <a:pPr marL="800100" lvl="1" indent="-342900" algn="l">
              <a:buFont typeface="Arial" panose="020B0604020202020204" pitchFamily="34" charset="0"/>
              <a:buChar char="•"/>
            </a:pPr>
            <a:r>
              <a:rPr lang="en-US" dirty="0"/>
              <a:t>30 years of experience</a:t>
            </a:r>
          </a:p>
          <a:p>
            <a:pPr marL="800100" lvl="1"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“Healthcare 2.0” means opportunity</a:t>
            </a:r>
          </a:p>
          <a:p>
            <a:pPr marL="800100" lvl="1" indent="-342900" algn="l">
              <a:buFont typeface="Arial" panose="020B0604020202020204" pitchFamily="34" charset="0"/>
              <a:buChar char="•"/>
            </a:pPr>
            <a:r>
              <a:rPr lang="en-US" dirty="0"/>
              <a:t>Healthcare Reform (transition to value-based care payment)</a:t>
            </a:r>
          </a:p>
          <a:p>
            <a:pPr marL="800100" lvl="1" indent="-342900" algn="l">
              <a:buFont typeface="Arial" panose="020B0604020202020204" pitchFamily="34" charset="0"/>
              <a:buChar char="•"/>
            </a:pPr>
            <a:r>
              <a:rPr lang="en-US" dirty="0"/>
              <a:t>New technologies (blockchain, wearable tech, telemedicine)</a:t>
            </a:r>
          </a:p>
          <a:p>
            <a:pPr marL="800100" lvl="1" indent="-342900" algn="l">
              <a:buFont typeface="Arial" panose="020B0604020202020204" pitchFamily="34" charset="0"/>
              <a:buChar char="•"/>
            </a:pPr>
            <a:r>
              <a:rPr lang="en-US" dirty="0"/>
              <a:t>New methods (NLP for doctor’s notes, image classification for tumors, </a:t>
            </a:r>
            <a:r>
              <a:rPr lang="en-US" dirty="0" err="1"/>
              <a:t>etc</a:t>
            </a:r>
            <a:r>
              <a:rPr lang="en-US" dirty="0"/>
              <a:t>)</a:t>
            </a:r>
          </a:p>
          <a:p>
            <a:pPr lvl="1" algn="l"/>
            <a:endParaRPr lang="en-US" dirty="0"/>
          </a:p>
          <a:p>
            <a:pPr marL="342900" indent="-342900" algn="l">
              <a:buFont typeface="Arial" panose="020B0604020202020204" pitchFamily="34" charset="0"/>
              <a:buChar char="•"/>
            </a:pPr>
            <a:r>
              <a:rPr lang="en-US" dirty="0"/>
              <a:t>This data scientist position has great opportunities to </a:t>
            </a:r>
          </a:p>
          <a:p>
            <a:pPr marL="800100" lvl="1" indent="-342900" algn="l">
              <a:buFont typeface="Arial" panose="020B0604020202020204" pitchFamily="34" charset="0"/>
              <a:buChar char="•"/>
            </a:pPr>
            <a:r>
              <a:rPr lang="en-US" dirty="0"/>
              <a:t>Work with health survey data</a:t>
            </a:r>
          </a:p>
          <a:p>
            <a:pPr marL="800100" lvl="1" indent="-342900" algn="l">
              <a:buFont typeface="Arial" panose="020B0604020202020204" pitchFamily="34" charset="0"/>
              <a:buChar char="•"/>
            </a:pPr>
            <a:r>
              <a:rPr lang="en-US" dirty="0"/>
              <a:t>Employee engagement results </a:t>
            </a:r>
          </a:p>
          <a:p>
            <a:pPr marL="800100" lvl="1" indent="-342900" algn="l">
              <a:buFont typeface="Arial" panose="020B0604020202020204" pitchFamily="34" charset="0"/>
              <a:buChar char="•"/>
            </a:pPr>
            <a:r>
              <a:rPr lang="en-US" dirty="0"/>
              <a:t>Work with leaders in industry</a:t>
            </a:r>
          </a:p>
          <a:p>
            <a:pPr marL="800100" lvl="1" indent="-342900" algn="l">
              <a:buFont typeface="Arial" panose="020B0604020202020204" pitchFamily="34" charset="0"/>
              <a:buChar char="•"/>
            </a:pPr>
            <a:r>
              <a:rPr lang="en-US" dirty="0"/>
              <a:t>Has room for </a:t>
            </a:r>
            <a:r>
              <a:rPr lang="en-US" b="1" dirty="0">
                <a:solidFill>
                  <a:srgbClr val="FF0000"/>
                </a:solidFill>
              </a:rPr>
              <a:t>NEW</a:t>
            </a:r>
            <a:r>
              <a:rPr lang="en-US" dirty="0"/>
              <a:t> ideas &amp; </a:t>
            </a:r>
            <a:r>
              <a:rPr lang="en-US" b="1" dirty="0">
                <a:solidFill>
                  <a:schemeClr val="accent1"/>
                </a:solidFill>
              </a:rPr>
              <a:t>INNOVATIONS</a:t>
            </a:r>
          </a:p>
          <a:p>
            <a:pPr marL="800100" lvl="1" indent="-342900" algn="l">
              <a:buFont typeface="Arial" panose="020B0604020202020204" pitchFamily="34" charset="0"/>
              <a:buChar char="•"/>
            </a:pPr>
            <a:endParaRPr lang="en-US" dirty="0"/>
          </a:p>
        </p:txBody>
      </p:sp>
    </p:spTree>
    <p:extLst>
      <p:ext uri="{BB962C8B-B14F-4D97-AF65-F5344CB8AC3E}">
        <p14:creationId xmlns:p14="http://schemas.microsoft.com/office/powerpoint/2010/main" val="404682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0600-2DD8-408B-9828-802FCF217D8F}"/>
              </a:ext>
            </a:extLst>
          </p:cNvPr>
          <p:cNvSpPr>
            <a:spLocks noGrp="1"/>
          </p:cNvSpPr>
          <p:nvPr>
            <p:ph type="ctrTitle"/>
          </p:nvPr>
        </p:nvSpPr>
        <p:spPr>
          <a:xfrm>
            <a:off x="875071" y="502931"/>
            <a:ext cx="9144000" cy="824424"/>
          </a:xfrm>
        </p:spPr>
        <p:txBody>
          <a:bodyPr>
            <a:normAutofit fontScale="90000"/>
          </a:bodyPr>
          <a:lstStyle/>
          <a:p>
            <a:pPr algn="l"/>
            <a:r>
              <a:rPr lang="en-US" dirty="0"/>
              <a:t>Project example 1</a:t>
            </a:r>
          </a:p>
        </p:txBody>
      </p:sp>
      <p:sp>
        <p:nvSpPr>
          <p:cNvPr id="5" name="Subtitle 4">
            <a:extLst>
              <a:ext uri="{FF2B5EF4-FFF2-40B4-BE49-F238E27FC236}">
                <a16:creationId xmlns:a16="http://schemas.microsoft.com/office/drawing/2014/main" id="{2DA1BEC5-4FB5-4DA5-BF5A-72112E830731}"/>
              </a:ext>
            </a:extLst>
          </p:cNvPr>
          <p:cNvSpPr>
            <a:spLocks noGrp="1"/>
          </p:cNvSpPr>
          <p:nvPr>
            <p:ph type="subTitle" idx="1"/>
          </p:nvPr>
        </p:nvSpPr>
        <p:spPr>
          <a:xfrm>
            <a:off x="1012722" y="1327354"/>
            <a:ext cx="9144000" cy="4886633"/>
          </a:xfrm>
        </p:spPr>
        <p:txBody>
          <a:bodyPr>
            <a:normAutofit/>
          </a:bodyPr>
          <a:lstStyle/>
          <a:p>
            <a:pPr marL="342900" indent="-342900" algn="l">
              <a:buFont typeface="Arial" panose="020B0604020202020204" pitchFamily="34" charset="0"/>
              <a:buChar char="•"/>
            </a:pPr>
            <a:r>
              <a:rPr lang="en-US" dirty="0"/>
              <a:t>S: Small client (Allegiant), new</a:t>
            </a:r>
          </a:p>
          <a:p>
            <a:pPr marL="342900" indent="-342900" algn="l">
              <a:buFont typeface="Arial" panose="020B0604020202020204" pitchFamily="34" charset="0"/>
              <a:buChar char="•"/>
            </a:pPr>
            <a:r>
              <a:rPr lang="en-US" dirty="0"/>
              <a:t>T: Work with main developer in providing them a liability estimate</a:t>
            </a:r>
          </a:p>
          <a:p>
            <a:pPr marL="342900" indent="-342900" algn="l">
              <a:buFont typeface="Arial" panose="020B0604020202020204" pitchFamily="34" charset="0"/>
              <a:buChar char="•"/>
            </a:pPr>
            <a:r>
              <a:rPr lang="en-US" dirty="0"/>
              <a:t>A: Write part of SQL/R code (train developer since this was his first time)</a:t>
            </a:r>
          </a:p>
          <a:p>
            <a:pPr marL="342900" indent="-342900" algn="l">
              <a:buFont typeface="Arial" panose="020B0604020202020204" pitchFamily="34" charset="0"/>
              <a:buChar char="•"/>
            </a:pPr>
            <a:r>
              <a:rPr lang="en-US" dirty="0"/>
              <a:t>R: Model over fit to training data due to size of program.  New members were joining just to get promotional points, and then canceling their credit cards.  We should have removed these members from the data or used a less flexible clustering model</a:t>
            </a:r>
          </a:p>
        </p:txBody>
      </p:sp>
    </p:spTree>
    <p:extLst>
      <p:ext uri="{BB962C8B-B14F-4D97-AF65-F5344CB8AC3E}">
        <p14:creationId xmlns:p14="http://schemas.microsoft.com/office/powerpoint/2010/main" val="1605556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0600-2DD8-408B-9828-802FCF217D8F}"/>
              </a:ext>
            </a:extLst>
          </p:cNvPr>
          <p:cNvSpPr>
            <a:spLocks noGrp="1"/>
          </p:cNvSpPr>
          <p:nvPr>
            <p:ph type="ctrTitle"/>
          </p:nvPr>
        </p:nvSpPr>
        <p:spPr>
          <a:xfrm>
            <a:off x="875071" y="502931"/>
            <a:ext cx="9144000" cy="824424"/>
          </a:xfrm>
        </p:spPr>
        <p:txBody>
          <a:bodyPr>
            <a:normAutofit fontScale="90000"/>
          </a:bodyPr>
          <a:lstStyle/>
          <a:p>
            <a:pPr algn="l"/>
            <a:r>
              <a:rPr lang="en-US" dirty="0"/>
              <a:t>Project example 2</a:t>
            </a:r>
          </a:p>
        </p:txBody>
      </p:sp>
      <p:sp>
        <p:nvSpPr>
          <p:cNvPr id="5" name="Subtitle 4">
            <a:extLst>
              <a:ext uri="{FF2B5EF4-FFF2-40B4-BE49-F238E27FC236}">
                <a16:creationId xmlns:a16="http://schemas.microsoft.com/office/drawing/2014/main" id="{2DA1BEC5-4FB5-4DA5-BF5A-72112E830731}"/>
              </a:ext>
            </a:extLst>
          </p:cNvPr>
          <p:cNvSpPr>
            <a:spLocks noGrp="1"/>
          </p:cNvSpPr>
          <p:nvPr>
            <p:ph type="subTitle" idx="1"/>
          </p:nvPr>
        </p:nvSpPr>
        <p:spPr>
          <a:xfrm>
            <a:off x="1012722" y="1327354"/>
            <a:ext cx="9144000" cy="4886633"/>
          </a:xfrm>
        </p:spPr>
        <p:txBody>
          <a:bodyPr>
            <a:normAutofit/>
          </a:bodyPr>
          <a:lstStyle/>
          <a:p>
            <a:pPr marL="342900" indent="-342900" algn="l">
              <a:buFont typeface="Arial" panose="020B0604020202020204" pitchFamily="34" charset="0"/>
              <a:buChar char="•"/>
            </a:pPr>
            <a:r>
              <a:rPr lang="en-US" dirty="0"/>
              <a:t>S: A large hotel chain (150 million members worldwide) decides to start selling travel insurance.  They take bids/offers from a few consulting firms.  </a:t>
            </a:r>
          </a:p>
          <a:p>
            <a:pPr marL="342900" indent="-342900" algn="l">
              <a:buFont typeface="Arial" panose="020B0604020202020204" pitchFamily="34" charset="0"/>
              <a:buChar char="•"/>
            </a:pPr>
            <a:r>
              <a:rPr lang="en-US" dirty="0"/>
              <a:t>T: Win the bid for WTW to add ~ 100,000 in revenue</a:t>
            </a:r>
          </a:p>
          <a:p>
            <a:pPr marL="342900" indent="-342900" algn="l">
              <a:buFont typeface="Arial" panose="020B0604020202020204" pitchFamily="34" charset="0"/>
              <a:buChar char="•"/>
            </a:pPr>
            <a:r>
              <a:rPr lang="en-US" dirty="0"/>
              <a:t>A: Conduct detailed drill-down analysis into data and put together visualizations in PPT</a:t>
            </a:r>
          </a:p>
          <a:p>
            <a:pPr marL="342900" indent="-342900" algn="l">
              <a:buFont typeface="Arial" panose="020B0604020202020204" pitchFamily="34" charset="0"/>
              <a:buChar char="•"/>
            </a:pPr>
            <a:r>
              <a:rPr lang="en-US" dirty="0"/>
              <a:t>R: We won the bid.  Now I’m working to support on team lead with product development to come up with ways to support client</a:t>
            </a:r>
          </a:p>
          <a:p>
            <a:pPr marL="800100" lvl="1" indent="-342900" algn="l">
              <a:buFont typeface="Arial" panose="020B0604020202020204" pitchFamily="34" charset="0"/>
              <a:buChar char="•"/>
            </a:pPr>
            <a:r>
              <a:rPr lang="en-US" dirty="0"/>
              <a:t>Targeted promotions.  What factors contribute to someone buying travel insurance?  I.e., cost of booked stay, domestic vs international travel, seasonality (traveling to </a:t>
            </a:r>
            <a:r>
              <a:rPr lang="en-US" dirty="0" err="1"/>
              <a:t>florida</a:t>
            </a:r>
            <a:r>
              <a:rPr lang="en-US" dirty="0"/>
              <a:t> in hurricane season?), </a:t>
            </a:r>
            <a:r>
              <a:rPr lang="en-US" dirty="0" err="1"/>
              <a:t>etc</a:t>
            </a:r>
            <a:endParaRPr lang="en-US" dirty="0"/>
          </a:p>
        </p:txBody>
      </p:sp>
    </p:spTree>
    <p:extLst>
      <p:ext uri="{BB962C8B-B14F-4D97-AF65-F5344CB8AC3E}">
        <p14:creationId xmlns:p14="http://schemas.microsoft.com/office/powerpoint/2010/main" val="844740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0600-2DD8-408B-9828-802FCF217D8F}"/>
              </a:ext>
            </a:extLst>
          </p:cNvPr>
          <p:cNvSpPr>
            <a:spLocks noGrp="1"/>
          </p:cNvSpPr>
          <p:nvPr>
            <p:ph type="ctrTitle"/>
          </p:nvPr>
        </p:nvSpPr>
        <p:spPr>
          <a:xfrm>
            <a:off x="875071" y="502931"/>
            <a:ext cx="9144000" cy="824424"/>
          </a:xfrm>
        </p:spPr>
        <p:txBody>
          <a:bodyPr>
            <a:normAutofit fontScale="90000"/>
          </a:bodyPr>
          <a:lstStyle/>
          <a:p>
            <a:pPr algn="l"/>
            <a:r>
              <a:rPr lang="en-US" dirty="0"/>
              <a:t>Questions</a:t>
            </a:r>
          </a:p>
        </p:txBody>
      </p:sp>
      <p:sp>
        <p:nvSpPr>
          <p:cNvPr id="5" name="Subtitle 4">
            <a:extLst>
              <a:ext uri="{FF2B5EF4-FFF2-40B4-BE49-F238E27FC236}">
                <a16:creationId xmlns:a16="http://schemas.microsoft.com/office/drawing/2014/main" id="{2DA1BEC5-4FB5-4DA5-BF5A-72112E830731}"/>
              </a:ext>
            </a:extLst>
          </p:cNvPr>
          <p:cNvSpPr>
            <a:spLocks noGrp="1"/>
          </p:cNvSpPr>
          <p:nvPr>
            <p:ph type="subTitle" idx="1"/>
          </p:nvPr>
        </p:nvSpPr>
        <p:spPr>
          <a:xfrm>
            <a:off x="1012722" y="1327354"/>
            <a:ext cx="9144000" cy="4886633"/>
          </a:xfrm>
        </p:spPr>
        <p:txBody>
          <a:bodyPr>
            <a:normAutofit/>
          </a:bodyPr>
          <a:lstStyle/>
          <a:p>
            <a:pPr marL="342900" indent="-342900" algn="l">
              <a:buFont typeface="Arial" panose="020B0604020202020204" pitchFamily="34" charset="0"/>
              <a:buChar char="•"/>
            </a:pPr>
            <a:r>
              <a:rPr lang="en-US" dirty="0"/>
              <a:t>Jennifer mentioned that some work is regulated (i.e., post-inpatient hospital surveys) which is a requirement for health care facilities.  Can you give me some examples of regulated vs non-regulated projects?</a:t>
            </a:r>
          </a:p>
          <a:p>
            <a:pPr marL="342900" indent="-342900" algn="l">
              <a:buFont typeface="Arial" panose="020B0604020202020204" pitchFamily="34" charset="0"/>
              <a:buChar char="•"/>
            </a:pPr>
            <a:endParaRPr lang="en-US" dirty="0"/>
          </a:p>
        </p:txBody>
      </p:sp>
    </p:spTree>
    <p:extLst>
      <p:ext uri="{BB962C8B-B14F-4D97-AF65-F5344CB8AC3E}">
        <p14:creationId xmlns:p14="http://schemas.microsoft.com/office/powerpoint/2010/main" val="3522970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0600-2DD8-408B-9828-802FCF217D8F}"/>
              </a:ext>
            </a:extLst>
          </p:cNvPr>
          <p:cNvSpPr>
            <a:spLocks noGrp="1"/>
          </p:cNvSpPr>
          <p:nvPr>
            <p:ph type="ctrTitle"/>
          </p:nvPr>
        </p:nvSpPr>
        <p:spPr>
          <a:xfrm>
            <a:off x="875071" y="502931"/>
            <a:ext cx="9144000" cy="824424"/>
          </a:xfrm>
        </p:spPr>
        <p:txBody>
          <a:bodyPr>
            <a:normAutofit fontScale="90000"/>
          </a:bodyPr>
          <a:lstStyle/>
          <a:p>
            <a:pPr algn="l"/>
            <a:r>
              <a:rPr lang="en-US" dirty="0"/>
              <a:t>Questions</a:t>
            </a:r>
          </a:p>
        </p:txBody>
      </p:sp>
      <p:sp>
        <p:nvSpPr>
          <p:cNvPr id="5" name="Subtitle 4">
            <a:extLst>
              <a:ext uri="{FF2B5EF4-FFF2-40B4-BE49-F238E27FC236}">
                <a16:creationId xmlns:a16="http://schemas.microsoft.com/office/drawing/2014/main" id="{2DA1BEC5-4FB5-4DA5-BF5A-72112E830731}"/>
              </a:ext>
            </a:extLst>
          </p:cNvPr>
          <p:cNvSpPr>
            <a:spLocks noGrp="1"/>
          </p:cNvSpPr>
          <p:nvPr>
            <p:ph type="subTitle" idx="1"/>
          </p:nvPr>
        </p:nvSpPr>
        <p:spPr>
          <a:xfrm>
            <a:off x="1012722" y="1327354"/>
            <a:ext cx="9144000" cy="4886633"/>
          </a:xfrm>
        </p:spPr>
        <p:txBody>
          <a:bodyPr>
            <a:normAutofit/>
          </a:bodyPr>
          <a:lstStyle/>
          <a:p>
            <a:pPr marL="342900" indent="-342900" algn="l">
              <a:buFont typeface="Arial" panose="020B0604020202020204" pitchFamily="34" charset="0"/>
              <a:buChar char="•"/>
            </a:pPr>
            <a:r>
              <a:rPr lang="en-US" dirty="0"/>
              <a:t>What’s the size of the team?</a:t>
            </a:r>
          </a:p>
          <a:p>
            <a:pPr marL="342900" indent="-342900" algn="l">
              <a:buFont typeface="Arial" panose="020B0604020202020204" pitchFamily="34" charset="0"/>
              <a:buChar char="•"/>
            </a:pPr>
            <a:r>
              <a:rPr lang="en-US" dirty="0"/>
              <a:t>What’s the size of the Press Ganey Data Science Practice?</a:t>
            </a:r>
          </a:p>
          <a:p>
            <a:pPr marL="342900" indent="-342900" algn="l">
              <a:buFont typeface="Arial" panose="020B0604020202020204" pitchFamily="34" charset="0"/>
              <a:buChar char="•"/>
            </a:pPr>
            <a:r>
              <a:rPr lang="en-US" dirty="0"/>
              <a:t>Does this position have travel?</a:t>
            </a:r>
          </a:p>
          <a:p>
            <a:pPr marL="342900" indent="-342900" algn="l">
              <a:buFont typeface="Arial" panose="020B0604020202020204" pitchFamily="34" charset="0"/>
              <a:buChar char="•"/>
            </a:pPr>
            <a:r>
              <a:rPr lang="en-US" dirty="0"/>
              <a:t>What are the leadership and project management expectations?</a:t>
            </a:r>
          </a:p>
          <a:p>
            <a:pPr marL="342900" indent="-342900" algn="l">
              <a:buFont typeface="Arial" panose="020B0604020202020204" pitchFamily="34" charset="0"/>
              <a:buChar char="•"/>
            </a:pPr>
            <a:endParaRPr lang="en-US" dirty="0"/>
          </a:p>
        </p:txBody>
      </p:sp>
    </p:spTree>
    <p:extLst>
      <p:ext uri="{BB962C8B-B14F-4D97-AF65-F5344CB8AC3E}">
        <p14:creationId xmlns:p14="http://schemas.microsoft.com/office/powerpoint/2010/main" val="1057391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0600-2DD8-408B-9828-802FCF217D8F}"/>
              </a:ext>
            </a:extLst>
          </p:cNvPr>
          <p:cNvSpPr>
            <a:spLocks noGrp="1"/>
          </p:cNvSpPr>
          <p:nvPr>
            <p:ph type="ctrTitle"/>
          </p:nvPr>
        </p:nvSpPr>
        <p:spPr>
          <a:xfrm>
            <a:off x="875071" y="502931"/>
            <a:ext cx="9144000" cy="824424"/>
          </a:xfrm>
        </p:spPr>
        <p:txBody>
          <a:bodyPr>
            <a:normAutofit fontScale="90000"/>
          </a:bodyPr>
          <a:lstStyle/>
          <a:p>
            <a:pPr algn="l"/>
            <a:r>
              <a:rPr lang="en-US" dirty="0"/>
              <a:t>Questions</a:t>
            </a:r>
          </a:p>
        </p:txBody>
      </p:sp>
      <p:sp>
        <p:nvSpPr>
          <p:cNvPr id="5" name="Subtitle 4">
            <a:extLst>
              <a:ext uri="{FF2B5EF4-FFF2-40B4-BE49-F238E27FC236}">
                <a16:creationId xmlns:a16="http://schemas.microsoft.com/office/drawing/2014/main" id="{2DA1BEC5-4FB5-4DA5-BF5A-72112E830731}"/>
              </a:ext>
            </a:extLst>
          </p:cNvPr>
          <p:cNvSpPr>
            <a:spLocks noGrp="1"/>
          </p:cNvSpPr>
          <p:nvPr>
            <p:ph type="subTitle" idx="1"/>
          </p:nvPr>
        </p:nvSpPr>
        <p:spPr>
          <a:xfrm>
            <a:off x="1012722" y="1327354"/>
            <a:ext cx="9144000" cy="4886633"/>
          </a:xfrm>
        </p:spPr>
        <p:txBody>
          <a:bodyPr>
            <a:normAutofit/>
          </a:bodyPr>
          <a:lstStyle/>
          <a:p>
            <a:pPr algn="l"/>
            <a:r>
              <a:rPr lang="en-US" dirty="0">
                <a:highlight>
                  <a:srgbClr val="FFFF00"/>
                </a:highlight>
              </a:rPr>
              <a:t>How do you measure actual healthcare quality? Goodhart’s Law: "When a measure becomes a target, it ceases to be a good measure."</a:t>
            </a:r>
          </a:p>
          <a:p>
            <a:pPr marL="342900" lvl="0" indent="-342900" algn="l">
              <a:buFont typeface="Arial" panose="020B0604020202020204" pitchFamily="34" charset="0"/>
              <a:buChar char="•"/>
            </a:pPr>
            <a:r>
              <a:rPr lang="en-US" dirty="0"/>
              <a:t>Patient satisfaction can also be influenced by non-health factors such as nice TVs, better food, a comfortable room, and other “hospitality” factors that hotels use to make customers happier.  This means that patient satisfaction is necessary but not sufficient to measure quality.</a:t>
            </a:r>
          </a:p>
          <a:p>
            <a:pPr marL="342900" lvl="0" indent="-342900" algn="l">
              <a:buFont typeface="Arial" panose="020B0604020202020204" pitchFamily="34" charset="0"/>
              <a:buChar char="•"/>
            </a:pPr>
            <a:r>
              <a:rPr lang="en-US" dirty="0"/>
              <a:t>Some hospitals attract sicker patients.  This causes these hospitals to appear to be worse.</a:t>
            </a:r>
          </a:p>
          <a:p>
            <a:pPr marL="800100" lvl="1" indent="-342900" algn="l">
              <a:buFont typeface="Arial" panose="020B0604020202020204" pitchFamily="34" charset="0"/>
              <a:buChar char="•"/>
            </a:pPr>
            <a:r>
              <a:rPr lang="en-US" dirty="0"/>
              <a:t>Statistical techniques can make this bias less severe with risk adjustment	</a:t>
            </a:r>
          </a:p>
          <a:p>
            <a:pPr marL="342900" lvl="0" indent="-342900" algn="l">
              <a:buFont typeface="Arial" panose="020B0604020202020204" pitchFamily="34" charset="0"/>
              <a:buChar char="•"/>
            </a:pPr>
            <a:r>
              <a:rPr lang="en-US" dirty="0"/>
              <a:t>Socioeconomic status influences patient outcomes as patients with access to better resources have faster recovery times and better health overall</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endParaRPr lang="en-US" dirty="0"/>
          </a:p>
        </p:txBody>
      </p:sp>
    </p:spTree>
    <p:extLst>
      <p:ext uri="{BB962C8B-B14F-4D97-AF65-F5344CB8AC3E}">
        <p14:creationId xmlns:p14="http://schemas.microsoft.com/office/powerpoint/2010/main" val="3218938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0600-2DD8-408B-9828-802FCF217D8F}"/>
              </a:ext>
            </a:extLst>
          </p:cNvPr>
          <p:cNvSpPr>
            <a:spLocks noGrp="1"/>
          </p:cNvSpPr>
          <p:nvPr>
            <p:ph type="ctrTitle"/>
          </p:nvPr>
        </p:nvSpPr>
        <p:spPr>
          <a:xfrm>
            <a:off x="875071" y="502931"/>
            <a:ext cx="9144000" cy="824424"/>
          </a:xfrm>
        </p:spPr>
        <p:txBody>
          <a:bodyPr>
            <a:normAutofit fontScale="90000"/>
          </a:bodyPr>
          <a:lstStyle/>
          <a:p>
            <a:pPr algn="l"/>
            <a:r>
              <a:rPr lang="en-US" dirty="0"/>
              <a:t>Questions</a:t>
            </a:r>
          </a:p>
        </p:txBody>
      </p:sp>
      <p:sp>
        <p:nvSpPr>
          <p:cNvPr id="5" name="Subtitle 4">
            <a:extLst>
              <a:ext uri="{FF2B5EF4-FFF2-40B4-BE49-F238E27FC236}">
                <a16:creationId xmlns:a16="http://schemas.microsoft.com/office/drawing/2014/main" id="{2DA1BEC5-4FB5-4DA5-BF5A-72112E830731}"/>
              </a:ext>
            </a:extLst>
          </p:cNvPr>
          <p:cNvSpPr>
            <a:spLocks noGrp="1"/>
          </p:cNvSpPr>
          <p:nvPr>
            <p:ph type="subTitle" idx="1"/>
          </p:nvPr>
        </p:nvSpPr>
        <p:spPr>
          <a:xfrm>
            <a:off x="1012722" y="1327354"/>
            <a:ext cx="9144000" cy="4886633"/>
          </a:xfrm>
        </p:spPr>
        <p:txBody>
          <a:bodyPr>
            <a:normAutofit/>
          </a:bodyPr>
          <a:lstStyle/>
          <a:p>
            <a:pPr algn="l"/>
            <a:r>
              <a:rPr lang="en-US" dirty="0"/>
              <a:t>Where is the trade off between predictive power and statistical rigor and ease of interpretation and communication?</a:t>
            </a:r>
          </a:p>
          <a:p>
            <a:pPr algn="l"/>
            <a:endParaRPr lang="en-US" dirty="0"/>
          </a:p>
          <a:p>
            <a:pPr algn="l"/>
            <a:r>
              <a:rPr lang="en-US" dirty="0"/>
              <a:t>Example: At BCBS, use a Bayesian (beta binomial distribution) to compare patient follow up rates instead of just the top 10 (or weighted </a:t>
            </a:r>
            <a:r>
              <a:rPr lang="en-US" dirty="0" err="1"/>
              <a:t>avg</a:t>
            </a:r>
            <a:r>
              <a:rPr lang="en-US" dirty="0"/>
              <a:t> top 10 with n patients as the weights)</a:t>
            </a:r>
          </a:p>
        </p:txBody>
      </p:sp>
    </p:spTree>
    <p:extLst>
      <p:ext uri="{BB962C8B-B14F-4D97-AF65-F5344CB8AC3E}">
        <p14:creationId xmlns:p14="http://schemas.microsoft.com/office/powerpoint/2010/main" val="1324245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0600-2DD8-408B-9828-802FCF217D8F}"/>
              </a:ext>
            </a:extLst>
          </p:cNvPr>
          <p:cNvSpPr>
            <a:spLocks noGrp="1"/>
          </p:cNvSpPr>
          <p:nvPr>
            <p:ph type="ctrTitle"/>
          </p:nvPr>
        </p:nvSpPr>
        <p:spPr>
          <a:xfrm>
            <a:off x="875071" y="502931"/>
            <a:ext cx="9144000" cy="824424"/>
          </a:xfrm>
        </p:spPr>
        <p:txBody>
          <a:bodyPr>
            <a:normAutofit fontScale="90000"/>
          </a:bodyPr>
          <a:lstStyle/>
          <a:p>
            <a:pPr algn="l"/>
            <a:r>
              <a:rPr lang="en-US" dirty="0"/>
              <a:t>Anticipated Question</a:t>
            </a:r>
          </a:p>
        </p:txBody>
      </p:sp>
      <p:sp>
        <p:nvSpPr>
          <p:cNvPr id="5" name="Subtitle 4">
            <a:extLst>
              <a:ext uri="{FF2B5EF4-FFF2-40B4-BE49-F238E27FC236}">
                <a16:creationId xmlns:a16="http://schemas.microsoft.com/office/drawing/2014/main" id="{2DA1BEC5-4FB5-4DA5-BF5A-72112E830731}"/>
              </a:ext>
            </a:extLst>
          </p:cNvPr>
          <p:cNvSpPr>
            <a:spLocks noGrp="1"/>
          </p:cNvSpPr>
          <p:nvPr>
            <p:ph type="subTitle" idx="1"/>
          </p:nvPr>
        </p:nvSpPr>
        <p:spPr>
          <a:xfrm>
            <a:off x="1012722" y="1327354"/>
            <a:ext cx="9144000" cy="4886633"/>
          </a:xfrm>
        </p:spPr>
        <p:txBody>
          <a:bodyPr>
            <a:normAutofit/>
          </a:bodyPr>
          <a:lstStyle/>
          <a:p>
            <a:pPr algn="l"/>
            <a:r>
              <a:rPr lang="en-US" dirty="0"/>
              <a:t>Describe leadership experience</a:t>
            </a:r>
          </a:p>
          <a:p>
            <a:pPr marL="342900" indent="-342900" algn="l">
              <a:buFont typeface="Arial" panose="020B0604020202020204" pitchFamily="34" charset="0"/>
              <a:buChar char="•"/>
            </a:pPr>
            <a:r>
              <a:rPr lang="en-US" dirty="0"/>
              <a:t>Lead analysts in development for several clients (AML, Allegiant)</a:t>
            </a:r>
          </a:p>
          <a:p>
            <a:pPr marL="342900" indent="-342900" algn="l">
              <a:buFont typeface="Arial" panose="020B0604020202020204" pitchFamily="34" charset="0"/>
              <a:buChar char="•"/>
            </a:pPr>
            <a:r>
              <a:rPr lang="en-US" dirty="0"/>
              <a:t>Schedule and conduct training on methodology and tech for two new analysts (Toby and Pat)</a:t>
            </a:r>
          </a:p>
          <a:p>
            <a:pPr marL="342900" indent="-342900" algn="l">
              <a:buFont typeface="Arial" panose="020B0604020202020204" pitchFamily="34" charset="0"/>
              <a:buChar char="•"/>
            </a:pPr>
            <a:r>
              <a:rPr lang="en-US" dirty="0"/>
              <a:t>Work with analysts from satellite office in Mexico City</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endParaRPr lang="en-US" dirty="0"/>
          </a:p>
        </p:txBody>
      </p:sp>
    </p:spTree>
    <p:extLst>
      <p:ext uri="{BB962C8B-B14F-4D97-AF65-F5344CB8AC3E}">
        <p14:creationId xmlns:p14="http://schemas.microsoft.com/office/powerpoint/2010/main" val="37927490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TotalTime>
  <Words>671</Words>
  <Application>Microsoft Office PowerPoint</Application>
  <PresentationFormat>Widescreen</PresentationFormat>
  <Paragraphs>61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Let me tell you about myself</vt:lpstr>
      <vt:lpstr>What I currently do</vt:lpstr>
      <vt:lpstr>Why I’m interested</vt:lpstr>
      <vt:lpstr>Project example 1</vt:lpstr>
      <vt:lpstr>Project example 2</vt:lpstr>
      <vt:lpstr>Questions</vt:lpstr>
      <vt:lpstr>Questions</vt:lpstr>
      <vt:lpstr>Questions</vt:lpstr>
      <vt:lpstr>Questions</vt:lpstr>
      <vt:lpstr>Anticipated 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Let me tell you about myself</dc:title>
  <dc:creator>Castillo, Sam (Boston)</dc:creator>
  <cp:lastModifiedBy>Castillo, Sam (Boston)</cp:lastModifiedBy>
  <cp:revision>12</cp:revision>
  <dcterms:created xsi:type="dcterms:W3CDTF">2018-11-28T01:20:10Z</dcterms:created>
  <dcterms:modified xsi:type="dcterms:W3CDTF">2018-11-28T22:10:03Z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c700311-1b20-487f-9129-30717d50ca8e_Enabled">
    <vt:lpwstr>True</vt:lpwstr>
  </property>
  <property fmtid="{D5CDD505-2E9C-101B-9397-08002B2CF9AE}" pid="3" name="MSIP_Label_9c700311-1b20-487f-9129-30717d50ca8e_SiteId">
    <vt:lpwstr>76e3921f-489b-4b7e-9547-9ea297add9b5</vt:lpwstr>
  </property>
  <property fmtid="{D5CDD505-2E9C-101B-9397-08002B2CF9AE}" pid="4" name="MSIP_Label_9c700311-1b20-487f-9129-30717d50ca8e_Owner">
    <vt:lpwstr>sam.castillo@towerswatson.com</vt:lpwstr>
  </property>
  <property fmtid="{D5CDD505-2E9C-101B-9397-08002B2CF9AE}" pid="5" name="MSIP_Label_9c700311-1b20-487f-9129-30717d50ca8e_SetDate">
    <vt:lpwstr>2018-11-28T03:54:17.3101818Z</vt:lpwstr>
  </property>
  <property fmtid="{D5CDD505-2E9C-101B-9397-08002B2CF9AE}" pid="6" name="MSIP_Label_9c700311-1b20-487f-9129-30717d50ca8e_Name">
    <vt:lpwstr>Confidential</vt:lpwstr>
  </property>
  <property fmtid="{D5CDD505-2E9C-101B-9397-08002B2CF9AE}" pid="7" name="MSIP_Label_9c700311-1b20-487f-9129-30717d50ca8e_Application">
    <vt:lpwstr>Microsoft Azure Information Protection</vt:lpwstr>
  </property>
  <property fmtid="{D5CDD505-2E9C-101B-9397-08002B2CF9AE}" pid="8" name="MSIP_Label_9c700311-1b20-487f-9129-30717d50ca8e_Extended_MSFT_Method">
    <vt:lpwstr>Automatic</vt:lpwstr>
  </property>
  <property fmtid="{D5CDD505-2E9C-101B-9397-08002B2CF9AE}" pid="9" name="MSIP_Label_d347b247-e90e-43a3-9d7b-004f14ae6873_Enabled">
    <vt:lpwstr>True</vt:lpwstr>
  </property>
  <property fmtid="{D5CDD505-2E9C-101B-9397-08002B2CF9AE}" pid="10" name="MSIP_Label_d347b247-e90e-43a3-9d7b-004f14ae6873_SiteId">
    <vt:lpwstr>76e3921f-489b-4b7e-9547-9ea297add9b5</vt:lpwstr>
  </property>
  <property fmtid="{D5CDD505-2E9C-101B-9397-08002B2CF9AE}" pid="11" name="MSIP_Label_d347b247-e90e-43a3-9d7b-004f14ae6873_Owner">
    <vt:lpwstr>sam.castillo@towerswatson.com</vt:lpwstr>
  </property>
  <property fmtid="{D5CDD505-2E9C-101B-9397-08002B2CF9AE}" pid="12" name="MSIP_Label_d347b247-e90e-43a3-9d7b-004f14ae6873_SetDate">
    <vt:lpwstr>2018-11-28T03:54:17.3101818Z</vt:lpwstr>
  </property>
  <property fmtid="{D5CDD505-2E9C-101B-9397-08002B2CF9AE}" pid="13" name="MSIP_Label_d347b247-e90e-43a3-9d7b-004f14ae6873_Name">
    <vt:lpwstr>Anyone (No Protection)</vt:lpwstr>
  </property>
  <property fmtid="{D5CDD505-2E9C-101B-9397-08002B2CF9AE}" pid="14" name="MSIP_Label_d347b247-e90e-43a3-9d7b-004f14ae6873_Application">
    <vt:lpwstr>Microsoft Azure Information Protection</vt:lpwstr>
  </property>
  <property fmtid="{D5CDD505-2E9C-101B-9397-08002B2CF9AE}" pid="15" name="MSIP_Label_d347b247-e90e-43a3-9d7b-004f14ae6873_Parent">
    <vt:lpwstr>9c700311-1b20-487f-9129-30717d50ca8e</vt:lpwstr>
  </property>
  <property fmtid="{D5CDD505-2E9C-101B-9397-08002B2CF9AE}" pid="16" name="MSIP_Label_d347b247-e90e-43a3-9d7b-004f14ae6873_Extended_MSFT_Method">
    <vt:lpwstr>Automatic</vt:lpwstr>
  </property>
  <property fmtid="{D5CDD505-2E9C-101B-9397-08002B2CF9AE}" pid="17" name="Sensitivity">
    <vt:lpwstr>Confidential Anyone (No Protection)</vt:lpwstr>
  </property>
</Properties>
</file>